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16.svg" ContentType="image/svg+xml"/>
  <Override PartName="/ppt/media/image2.svg" ContentType="image/svg+xml"/>
  <Override PartName="/ppt/media/image20.svg" ContentType="image/svg+xml"/>
  <Override PartName="/ppt/media/image24.svg" ContentType="image/svg+xml"/>
  <Override PartName="/ppt/media/image26.svg" ContentType="image/svg+xml"/>
  <Override PartName="/ppt/media/image30.svg" ContentType="image/svg+xml"/>
  <Override PartName="/ppt/media/image35.svg" ContentType="image/svg+xml"/>
  <Override PartName="/ppt/media/image37.svg" ContentType="image/svg+xml"/>
  <Override PartName="/ppt/media/image4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2.svg" ContentType="image/svg+xml"/>
  <Override PartName="/ppt/media/image54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5.svg" ContentType="image/svg+xml"/>
  <Override PartName="/ppt/media/image71.svg" ContentType="image/svg+xml"/>
  <Override PartName="/ppt/media/image76.svg" ContentType="image/svg+xml"/>
  <Override PartName="/ppt/media/image80.svg" ContentType="image/svg+xml"/>
  <Override PartName="/ppt/media/image86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media/image9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8288000" cy="10287000"/>
  <p:notesSz cx="6858000" cy="9144000"/>
  <p:embeddedFontLst>
    <p:embeddedFont>
      <p:font typeface="Arapey" panose="02000000000000000000"/>
      <p:regular r:id="rId37"/>
    </p:embeddedFont>
    <p:embeddedFont>
      <p:font typeface="Saira Bold" panose="00000800000000000000"/>
      <p:bold r:id="rId38"/>
    </p:embeddedFont>
    <p:embeddedFont>
      <p:font typeface="Arapey Bold" panose="02000000000000000000"/>
      <p:regular r:id="rId39"/>
      <p:bold r:id="rId40"/>
    </p:embeddedFont>
    <p:embeddedFont>
      <p:font typeface="DM Sans Bold"/>
      <p:bold r:id="rId41"/>
    </p:embeddedFont>
    <p:embeddedFont>
      <p:font typeface="Calibri" panose="020F0502020204030204" charset="0"/>
      <p:regular r:id="rId42"/>
      <p:bold r:id="rId43"/>
      <p:italic r:id="rId44"/>
      <p:boldItalic r:id="rId45"/>
    </p:embeddedFont>
    <p:embeddedFont>
      <p:font typeface="M Young PRC Bold" charset="-122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2" d="100"/>
          <a:sy n="42" d="100"/>
        </p:scale>
        <p:origin x="78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font" Target="fonts/font10.fntdata"/><Relationship Id="rId45" Type="http://schemas.openxmlformats.org/officeDocument/2006/relationships/font" Target="fonts/font9.fntdata"/><Relationship Id="rId44" Type="http://schemas.openxmlformats.org/officeDocument/2006/relationships/font" Target="fonts/font8.fntdata"/><Relationship Id="rId43" Type="http://schemas.openxmlformats.org/officeDocument/2006/relationships/font" Target="fonts/font7.fntdata"/><Relationship Id="rId42" Type="http://schemas.openxmlformats.org/officeDocument/2006/relationships/font" Target="fonts/font6.fntdata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slide" Target="slides/slide2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3.jpe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6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1.svg"/><Relationship Id="rId3" Type="http://schemas.openxmlformats.org/officeDocument/2006/relationships/image" Target="../media/image70.png"/><Relationship Id="rId2" Type="http://schemas.openxmlformats.org/officeDocument/2006/relationships/image" Target="../media/image16.svg"/><Relationship Id="rId1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6.svg"/><Relationship Id="rId3" Type="http://schemas.openxmlformats.org/officeDocument/2006/relationships/image" Target="../media/image75.png"/><Relationship Id="rId2" Type="http://schemas.openxmlformats.org/officeDocument/2006/relationships/image" Target="../media/image30.svg"/><Relationship Id="rId1" Type="http://schemas.openxmlformats.org/officeDocument/2006/relationships/image" Target="../media/image7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6.svg"/><Relationship Id="rId5" Type="http://schemas.openxmlformats.org/officeDocument/2006/relationships/image" Target="../media/image85.png"/><Relationship Id="rId4" Type="http://schemas.openxmlformats.org/officeDocument/2006/relationships/image" Target="../media/image37.svg"/><Relationship Id="rId3" Type="http://schemas.openxmlformats.org/officeDocument/2006/relationships/image" Target="../media/image84.png"/><Relationship Id="rId2" Type="http://schemas.openxmlformats.org/officeDocument/2006/relationships/image" Target="../media/image35.svg"/><Relationship Id="rId1" Type="http://schemas.openxmlformats.org/officeDocument/2006/relationships/image" Target="../media/image8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2.svg"/><Relationship Id="rId3" Type="http://schemas.openxmlformats.org/officeDocument/2006/relationships/image" Target="../media/image91.png"/><Relationship Id="rId2" Type="http://schemas.openxmlformats.org/officeDocument/2006/relationships/image" Target="../media/image90.svg"/><Relationship Id="rId1" Type="http://schemas.openxmlformats.org/officeDocument/2006/relationships/image" Target="../media/image8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4.png"/><Relationship Id="rId1" Type="http://schemas.openxmlformats.org/officeDocument/2006/relationships/image" Target="../media/image93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7.svg"/><Relationship Id="rId3" Type="http://schemas.openxmlformats.org/officeDocument/2006/relationships/image" Target="../media/image96.png"/><Relationship Id="rId2" Type="http://schemas.openxmlformats.org/officeDocument/2006/relationships/image" Target="../media/image24.svg"/><Relationship Id="rId1" Type="http://schemas.openxmlformats.org/officeDocument/2006/relationships/image" Target="../media/image9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9.png"/><Relationship Id="rId1" Type="http://schemas.openxmlformats.org/officeDocument/2006/relationships/image" Target="../media/image9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4861" y="9258300"/>
            <a:ext cx="687678" cy="567129"/>
          </a:xfrm>
          <a:custGeom>
            <a:avLst/>
            <a:gdLst/>
            <a:ahLst/>
            <a:cxnLst/>
            <a:rect l="l" t="t" r="r" b="b"/>
            <a:pathLst>
              <a:path w="687678" h="567129">
                <a:moveTo>
                  <a:pt x="0" y="0"/>
                </a:moveTo>
                <a:lnTo>
                  <a:pt x="687678" y="0"/>
                </a:lnTo>
                <a:lnTo>
                  <a:pt x="687678" y="567129"/>
                </a:lnTo>
                <a:lnTo>
                  <a:pt x="0" y="56712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392607" y="3635269"/>
            <a:ext cx="9866693" cy="6870806"/>
          </a:xfrm>
          <a:custGeom>
            <a:avLst/>
            <a:gdLst/>
            <a:ahLst/>
            <a:cxnLst/>
            <a:rect l="l" t="t" r="r" b="b"/>
            <a:pathLst>
              <a:path w="9866693" h="6870806">
                <a:moveTo>
                  <a:pt x="0" y="0"/>
                </a:moveTo>
                <a:lnTo>
                  <a:pt x="9866693" y="0"/>
                </a:lnTo>
                <a:lnTo>
                  <a:pt x="9866693" y="6870806"/>
                </a:lnTo>
                <a:lnTo>
                  <a:pt x="0" y="68708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32666" y="787310"/>
            <a:ext cx="13527642" cy="4356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00"/>
              </a:lnSpc>
            </a:pPr>
            <a:r>
              <a:rPr lang="en-US" sz="12335">
                <a:solidFill>
                  <a:srgbClr val="2F18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CUSTOMER CHURN ANALYSIS USING    SQL</a:t>
            </a:r>
            <a:endParaRPr lang="en-US" sz="12335">
              <a:solidFill>
                <a:srgbClr val="2F18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92043" y="9249915"/>
            <a:ext cx="5581060" cy="575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345" b="1">
                <a:solidFill>
                  <a:srgbClr val="2F18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MADE BY KASHISH PUNDIR</a:t>
            </a:r>
            <a:endParaRPr lang="en-US" sz="334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65446" y="59982"/>
            <a:ext cx="2460527" cy="2867140"/>
          </a:xfrm>
          <a:custGeom>
            <a:avLst/>
            <a:gdLst/>
            <a:ahLst/>
            <a:cxnLst/>
            <a:rect l="l" t="t" r="r" b="b"/>
            <a:pathLst>
              <a:path w="2460527" h="2867140">
                <a:moveTo>
                  <a:pt x="0" y="0"/>
                </a:moveTo>
                <a:lnTo>
                  <a:pt x="2460528" y="0"/>
                </a:lnTo>
                <a:lnTo>
                  <a:pt x="2460528" y="2867140"/>
                </a:lnTo>
                <a:lnTo>
                  <a:pt x="0" y="286714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11131" y="-1340958"/>
            <a:ext cx="4747181" cy="3809613"/>
          </a:xfrm>
          <a:custGeom>
            <a:avLst/>
            <a:gdLst/>
            <a:ahLst/>
            <a:cxnLst/>
            <a:rect l="l" t="t" r="r" b="b"/>
            <a:pathLst>
              <a:path w="4747181" h="3809613">
                <a:moveTo>
                  <a:pt x="0" y="0"/>
                </a:moveTo>
                <a:lnTo>
                  <a:pt x="4747181" y="0"/>
                </a:lnTo>
                <a:lnTo>
                  <a:pt x="4747181" y="3809613"/>
                </a:lnTo>
                <a:lnTo>
                  <a:pt x="0" y="3809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570585" y="5947477"/>
            <a:ext cx="2908738" cy="4114800"/>
          </a:xfrm>
          <a:custGeom>
            <a:avLst/>
            <a:gdLst/>
            <a:ahLst/>
            <a:cxnLst/>
            <a:rect l="l" t="t" r="r" b="b"/>
            <a:pathLst>
              <a:path w="2908738" h="4114800">
                <a:moveTo>
                  <a:pt x="0" y="0"/>
                </a:moveTo>
                <a:lnTo>
                  <a:pt x="2908738" y="0"/>
                </a:lnTo>
                <a:lnTo>
                  <a:pt x="29087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19400" y="495300"/>
            <a:ext cx="8020685" cy="1102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05"/>
              </a:lnSpc>
              <a:spcBef>
                <a:spcPct val="0"/>
              </a:spcBef>
            </a:pPr>
            <a:r>
              <a:rPr lang="en-US" sz="6145" dirty="0" err="1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DataSet</a:t>
            </a:r>
            <a:r>
              <a:rPr lang="en-US" sz="6145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 Source:</a:t>
            </a:r>
            <a:r>
              <a:rPr lang="en-IN" altLang="en-US" sz="6145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 </a:t>
            </a:r>
            <a:r>
              <a:rPr lang="en-US" sz="6145" dirty="0" err="1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Kaggle</a:t>
            </a:r>
            <a:endParaRPr lang="en-US" sz="6145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133600" y="1672019"/>
            <a:ext cx="8020845" cy="2667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15"/>
              </a:lnSpc>
              <a:spcBef>
                <a:spcPct val="0"/>
              </a:spcBef>
            </a:pPr>
            <a:r>
              <a:rPr lang="en-US" sz="7440" u="sng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Table Attributes:</a:t>
            </a:r>
            <a:endParaRPr lang="en-US" sz="7440" u="sng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  <a:p>
            <a:pPr algn="ctr">
              <a:lnSpc>
                <a:spcPts val="10415"/>
              </a:lnSpc>
              <a:spcBef>
                <a:spcPct val="0"/>
              </a:spcBef>
            </a:pPr>
            <a:endParaRPr lang="en-US" sz="7440" u="sng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745873" y="3364313"/>
            <a:ext cx="6295142" cy="585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CUSTOMERID</a:t>
            </a:r>
            <a:endParaRPr lang="en-US" sz="3000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GENDER</a:t>
            </a:r>
            <a:endParaRPr lang="en-US" sz="3000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SENIORCITIZEN</a:t>
            </a:r>
            <a:endParaRPr lang="en-US" sz="3000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PARTNER</a:t>
            </a:r>
            <a:endParaRPr lang="en-US" sz="3000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DEPENDENTS</a:t>
            </a:r>
            <a:endParaRPr lang="en-US" sz="3000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TENURE</a:t>
            </a:r>
            <a:endParaRPr lang="en-US" sz="3000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PHONESERVICE</a:t>
            </a:r>
            <a:endParaRPr lang="en-US" sz="3000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MULTIPLELINES</a:t>
            </a:r>
            <a:endParaRPr lang="en-US" sz="3000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INTERNETSERVICE</a:t>
            </a:r>
            <a:endParaRPr lang="en-US" sz="3000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ONLINESECURITY</a:t>
            </a:r>
            <a:endParaRPr lang="en-US" sz="3000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ONLINEBACKUP</a:t>
            </a:r>
            <a:endParaRPr lang="en-US" sz="3000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45588" y="3364313"/>
            <a:ext cx="5594694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DEVICEPROTECTION</a:t>
            </a:r>
            <a:endParaRPr lang="en-US" sz="300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TECHSUPPORT</a:t>
            </a:r>
            <a:endParaRPr lang="en-US" sz="300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STREAMINGTV</a:t>
            </a:r>
            <a:endParaRPr lang="en-US" sz="300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STREAMINGMOVIES</a:t>
            </a:r>
            <a:endParaRPr lang="en-US" sz="300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CONTRACT</a:t>
            </a:r>
            <a:endParaRPr lang="en-US" sz="300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PAPERLESSBILLING</a:t>
            </a:r>
            <a:endParaRPr lang="en-US" sz="300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PAYMENTMETHOD</a:t>
            </a:r>
            <a:endParaRPr lang="en-US" sz="300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MONYHLYCHARGES</a:t>
            </a:r>
            <a:endParaRPr lang="en-US" sz="300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TOTALCHARGES</a:t>
            </a:r>
            <a:endParaRPr lang="en-US" sz="300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CHURN</a:t>
            </a:r>
            <a:endParaRPr lang="en-US" sz="300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84899" y="656195"/>
            <a:ext cx="8718202" cy="745010"/>
          </a:xfrm>
          <a:custGeom>
            <a:avLst/>
            <a:gdLst/>
            <a:ahLst/>
            <a:cxnLst/>
            <a:rect l="l" t="t" r="r" b="b"/>
            <a:pathLst>
              <a:path w="8718202" h="745010">
                <a:moveTo>
                  <a:pt x="0" y="0"/>
                </a:moveTo>
                <a:lnTo>
                  <a:pt x="8718202" y="0"/>
                </a:lnTo>
                <a:lnTo>
                  <a:pt x="8718202" y="745010"/>
                </a:lnTo>
                <a:lnTo>
                  <a:pt x="0" y="7450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11369" y="153376"/>
            <a:ext cx="3246951" cy="4114800"/>
          </a:xfrm>
          <a:custGeom>
            <a:avLst/>
            <a:gdLst/>
            <a:ahLst/>
            <a:cxnLst/>
            <a:rect l="l" t="t" r="r" b="b"/>
            <a:pathLst>
              <a:path w="3246951" h="4114800">
                <a:moveTo>
                  <a:pt x="0" y="0"/>
                </a:moveTo>
                <a:lnTo>
                  <a:pt x="3246951" y="0"/>
                </a:lnTo>
                <a:lnTo>
                  <a:pt x="3246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3" r="-22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62634" y="3966663"/>
            <a:ext cx="13762732" cy="2218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70"/>
              </a:lnSpc>
              <a:spcBef>
                <a:spcPct val="0"/>
              </a:spcBef>
            </a:pPr>
            <a:r>
              <a:rPr lang="en-US" sz="12335" dirty="0" smtClean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 </a:t>
            </a:r>
            <a:r>
              <a:rPr lang="en-US" sz="12335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Arapey" panose="02000000000000000000"/>
              </a:rPr>
              <a:t>CHURN ANALYSIS</a:t>
            </a:r>
            <a:endParaRPr lang="en-US" sz="12335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Arapey" panose="020000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8245" y="2656391"/>
            <a:ext cx="981645" cy="4968240"/>
            <a:chOff x="0" y="0"/>
            <a:chExt cx="258540" cy="1308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540" cy="1308508"/>
            </a:xfrm>
            <a:custGeom>
              <a:avLst/>
              <a:gdLst/>
              <a:ahLst/>
              <a:cxnLst/>
              <a:rect l="l" t="t" r="r" b="b"/>
              <a:pathLst>
                <a:path w="258540" h="1308508">
                  <a:moveTo>
                    <a:pt x="129270" y="0"/>
                  </a:moveTo>
                  <a:lnTo>
                    <a:pt x="129270" y="0"/>
                  </a:lnTo>
                  <a:cubicBezTo>
                    <a:pt x="163555" y="0"/>
                    <a:pt x="196435" y="13619"/>
                    <a:pt x="220678" y="37862"/>
                  </a:cubicBezTo>
                  <a:cubicBezTo>
                    <a:pt x="244921" y="62105"/>
                    <a:pt x="258540" y="94986"/>
                    <a:pt x="258540" y="129270"/>
                  </a:cubicBezTo>
                  <a:lnTo>
                    <a:pt x="258540" y="1179238"/>
                  </a:lnTo>
                  <a:cubicBezTo>
                    <a:pt x="258540" y="1250631"/>
                    <a:pt x="200664" y="1308508"/>
                    <a:pt x="129270" y="1308508"/>
                  </a:cubicBezTo>
                  <a:lnTo>
                    <a:pt x="129270" y="1308508"/>
                  </a:lnTo>
                  <a:cubicBezTo>
                    <a:pt x="94986" y="1308508"/>
                    <a:pt x="62105" y="1294888"/>
                    <a:pt x="37862" y="1270645"/>
                  </a:cubicBezTo>
                  <a:cubicBezTo>
                    <a:pt x="13619" y="1246403"/>
                    <a:pt x="0" y="1213522"/>
                    <a:pt x="0" y="1179238"/>
                  </a:cubicBezTo>
                  <a:lnTo>
                    <a:pt x="0" y="129270"/>
                  </a:lnTo>
                  <a:cubicBezTo>
                    <a:pt x="0" y="57876"/>
                    <a:pt x="57876" y="0"/>
                    <a:pt x="1292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2F18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258540" cy="1232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1577090" y="2656391"/>
            <a:ext cx="5783975" cy="4974218"/>
          </a:xfrm>
          <a:custGeom>
            <a:avLst/>
            <a:gdLst/>
            <a:ahLst/>
            <a:cxnLst/>
            <a:rect l="l" t="t" r="r" b="b"/>
            <a:pathLst>
              <a:path w="5783975" h="4974218">
                <a:moveTo>
                  <a:pt x="0" y="0"/>
                </a:moveTo>
                <a:lnTo>
                  <a:pt x="5783975" y="0"/>
                </a:lnTo>
                <a:lnTo>
                  <a:pt x="5783975" y="4974218"/>
                </a:lnTo>
                <a:lnTo>
                  <a:pt x="0" y="497421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591635" y="799745"/>
            <a:ext cx="9667665" cy="8229600"/>
          </a:xfrm>
          <a:custGeom>
            <a:avLst/>
            <a:gdLst/>
            <a:ahLst/>
            <a:cxnLst/>
            <a:rect l="l" t="t" r="r" b="b"/>
            <a:pathLst>
              <a:path w="9667665" h="8229600">
                <a:moveTo>
                  <a:pt x="0" y="0"/>
                </a:moveTo>
                <a:lnTo>
                  <a:pt x="9667665" y="0"/>
                </a:lnTo>
                <a:lnTo>
                  <a:pt x="96676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908254" y="3244623"/>
            <a:ext cx="9034428" cy="347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5"/>
              </a:lnSpc>
              <a:spcBef>
                <a:spcPct val="0"/>
              </a:spcBef>
            </a:pPr>
            <a:r>
              <a:rPr lang="en-US" sz="6785" b="1">
                <a:solidFill>
                  <a:srgbClr val="2F18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1. HOW MANY CUSTOMERS HAVE CHURNED VS NOT CHURNED?</a:t>
            </a:r>
            <a:endParaRPr lang="en-US" sz="678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71988">
            <a:off x="-63521" y="740772"/>
            <a:ext cx="2450448" cy="575855"/>
          </a:xfrm>
          <a:custGeom>
            <a:avLst/>
            <a:gdLst/>
            <a:ahLst/>
            <a:cxnLst/>
            <a:rect l="l" t="t" r="r" b="b"/>
            <a:pathLst>
              <a:path w="2450448" h="575855">
                <a:moveTo>
                  <a:pt x="0" y="0"/>
                </a:moveTo>
                <a:lnTo>
                  <a:pt x="2450448" y="0"/>
                </a:lnTo>
                <a:lnTo>
                  <a:pt x="2450448" y="575856"/>
                </a:lnTo>
                <a:lnTo>
                  <a:pt x="0" y="57585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918241">
            <a:off x="-196524" y="873437"/>
            <a:ext cx="2450448" cy="575855"/>
          </a:xfrm>
          <a:custGeom>
            <a:avLst/>
            <a:gdLst/>
            <a:ahLst/>
            <a:cxnLst/>
            <a:rect l="l" t="t" r="r" b="b"/>
            <a:pathLst>
              <a:path w="2450448" h="575855">
                <a:moveTo>
                  <a:pt x="0" y="0"/>
                </a:moveTo>
                <a:lnTo>
                  <a:pt x="2450448" y="0"/>
                </a:lnTo>
                <a:lnTo>
                  <a:pt x="2450448" y="575855"/>
                </a:lnTo>
                <a:lnTo>
                  <a:pt x="0" y="57585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251667">
            <a:off x="16166855" y="6664194"/>
            <a:ext cx="3374136" cy="4114800"/>
          </a:xfrm>
          <a:custGeom>
            <a:avLst/>
            <a:gdLst/>
            <a:ahLst/>
            <a:cxnLst/>
            <a:rect l="l" t="t" r="r" b="b"/>
            <a:pathLst>
              <a:path w="3374136" h="4114800">
                <a:moveTo>
                  <a:pt x="0" y="0"/>
                </a:moveTo>
                <a:lnTo>
                  <a:pt x="3374136" y="0"/>
                </a:lnTo>
                <a:lnTo>
                  <a:pt x="33741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65685" y="607169"/>
            <a:ext cx="16956631" cy="9072662"/>
            <a:chOff x="0" y="0"/>
            <a:chExt cx="4465944" cy="23895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944" cy="2389508"/>
            </a:xfrm>
            <a:custGeom>
              <a:avLst/>
              <a:gdLst/>
              <a:ahLst/>
              <a:cxnLst/>
              <a:rect l="l" t="t" r="r" b="b"/>
              <a:pathLst>
                <a:path w="4465944" h="2389508">
                  <a:moveTo>
                    <a:pt x="7762" y="0"/>
                  </a:moveTo>
                  <a:lnTo>
                    <a:pt x="4458182" y="0"/>
                  </a:lnTo>
                  <a:cubicBezTo>
                    <a:pt x="4460241" y="0"/>
                    <a:pt x="4462215" y="818"/>
                    <a:pt x="4463670" y="2273"/>
                  </a:cubicBezTo>
                  <a:cubicBezTo>
                    <a:pt x="4465126" y="3729"/>
                    <a:pt x="4465944" y="5703"/>
                    <a:pt x="4465944" y="7762"/>
                  </a:cubicBezTo>
                  <a:lnTo>
                    <a:pt x="4465944" y="2381746"/>
                  </a:lnTo>
                  <a:cubicBezTo>
                    <a:pt x="4465944" y="2383804"/>
                    <a:pt x="4465126" y="2385779"/>
                    <a:pt x="4463670" y="2387234"/>
                  </a:cubicBezTo>
                  <a:cubicBezTo>
                    <a:pt x="4462215" y="2388690"/>
                    <a:pt x="4460241" y="2389508"/>
                    <a:pt x="4458182" y="2389508"/>
                  </a:cubicBezTo>
                  <a:lnTo>
                    <a:pt x="7762" y="2389508"/>
                  </a:lnTo>
                  <a:cubicBezTo>
                    <a:pt x="5703" y="2389508"/>
                    <a:pt x="3729" y="2388690"/>
                    <a:pt x="2273" y="2387234"/>
                  </a:cubicBezTo>
                  <a:cubicBezTo>
                    <a:pt x="818" y="2385779"/>
                    <a:pt x="0" y="2383804"/>
                    <a:pt x="0" y="2381746"/>
                  </a:cubicBezTo>
                  <a:lnTo>
                    <a:pt x="0" y="7762"/>
                  </a:lnTo>
                  <a:cubicBezTo>
                    <a:pt x="0" y="5703"/>
                    <a:pt x="818" y="3729"/>
                    <a:pt x="2273" y="2273"/>
                  </a:cubicBezTo>
                  <a:cubicBezTo>
                    <a:pt x="3729" y="818"/>
                    <a:pt x="5703" y="0"/>
                    <a:pt x="7762" y="0"/>
                  </a:cubicBezTo>
                  <a:close/>
                </a:path>
              </a:pathLst>
            </a:custGeom>
            <a:solidFill>
              <a:srgbClr val="C1997E">
                <a:alpha val="2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76200"/>
              <a:ext cx="4465944" cy="2313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60134" y="959008"/>
            <a:ext cx="3284066" cy="1262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25"/>
              </a:lnSpc>
              <a:spcBef>
                <a:spcPct val="0"/>
              </a:spcBef>
            </a:pPr>
            <a:r>
              <a:rPr lang="en-US" sz="7590" u="sng" dirty="0" smtClean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QUERY</a:t>
            </a:r>
            <a:endParaRPr lang="en-US" sz="7590" u="sng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5571875" y="6865923"/>
            <a:ext cx="6495111" cy="2126513"/>
          </a:xfrm>
          <a:custGeom>
            <a:avLst/>
            <a:gdLst/>
            <a:ahLst/>
            <a:cxnLst/>
            <a:rect l="l" t="t" r="r" b="b"/>
            <a:pathLst>
              <a:path w="6495111" h="2126513">
                <a:moveTo>
                  <a:pt x="0" y="0"/>
                </a:moveTo>
                <a:lnTo>
                  <a:pt x="6495111" y="0"/>
                </a:lnTo>
                <a:lnTo>
                  <a:pt x="6495111" y="2126513"/>
                </a:lnTo>
                <a:lnTo>
                  <a:pt x="0" y="2126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7625" cap="sq">
            <a:solidFill>
              <a:srgbClr val="010101"/>
            </a:solidFill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4334712" y="2938845"/>
            <a:ext cx="8969435" cy="3259448"/>
          </a:xfrm>
          <a:custGeom>
            <a:avLst/>
            <a:gdLst/>
            <a:ahLst/>
            <a:cxnLst/>
            <a:rect l="l" t="t" r="r" b="b"/>
            <a:pathLst>
              <a:path w="8969435" h="3259448">
                <a:moveTo>
                  <a:pt x="0" y="0"/>
                </a:moveTo>
                <a:lnTo>
                  <a:pt x="8969434" y="0"/>
                </a:lnTo>
                <a:lnTo>
                  <a:pt x="8969434" y="3259448"/>
                </a:lnTo>
                <a:lnTo>
                  <a:pt x="0" y="3259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1257"/>
            </a:stretch>
          </a:blipFill>
          <a:ln w="47625" cap="sq">
            <a:solidFill>
              <a:srgbClr val="010101"/>
            </a:solidFill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53916" y="2572276"/>
            <a:ext cx="7074547" cy="6971645"/>
          </a:xfrm>
          <a:custGeom>
            <a:avLst/>
            <a:gdLst/>
            <a:ahLst/>
            <a:cxnLst/>
            <a:rect l="l" t="t" r="r" b="b"/>
            <a:pathLst>
              <a:path w="7074547" h="6971645">
                <a:moveTo>
                  <a:pt x="0" y="0"/>
                </a:moveTo>
                <a:lnTo>
                  <a:pt x="7074547" y="0"/>
                </a:lnTo>
                <a:lnTo>
                  <a:pt x="7074547" y="6971645"/>
                </a:lnTo>
                <a:lnTo>
                  <a:pt x="0" y="697164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5914" y="1028700"/>
            <a:ext cx="7442941" cy="7933368"/>
          </a:xfrm>
          <a:custGeom>
            <a:avLst/>
            <a:gdLst/>
            <a:ahLst/>
            <a:cxnLst/>
            <a:rect l="l" t="t" r="r" b="b"/>
            <a:pathLst>
              <a:path w="7442941" h="7933368">
                <a:moveTo>
                  <a:pt x="0" y="0"/>
                </a:moveTo>
                <a:lnTo>
                  <a:pt x="7442941" y="0"/>
                </a:lnTo>
                <a:lnTo>
                  <a:pt x="7442941" y="7933368"/>
                </a:lnTo>
                <a:lnTo>
                  <a:pt x="0" y="7933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80931" y="4539586"/>
            <a:ext cx="5532907" cy="210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5"/>
              </a:lnSpc>
            </a:pPr>
            <a:r>
              <a:rPr lang="en-US" sz="5445" b="1">
                <a:solidFill>
                  <a:srgbClr val="2F18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2. WHAT IS THE CHURN RATE BY GENDER?</a:t>
            </a:r>
            <a:endParaRPr lang="en-US" sz="544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5685" y="607169"/>
            <a:ext cx="16956631" cy="9072662"/>
            <a:chOff x="0" y="0"/>
            <a:chExt cx="4465944" cy="2389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944" cy="2389508"/>
            </a:xfrm>
            <a:custGeom>
              <a:avLst/>
              <a:gdLst/>
              <a:ahLst/>
              <a:cxnLst/>
              <a:rect l="l" t="t" r="r" b="b"/>
              <a:pathLst>
                <a:path w="4465944" h="2389508">
                  <a:moveTo>
                    <a:pt x="7762" y="0"/>
                  </a:moveTo>
                  <a:lnTo>
                    <a:pt x="4458182" y="0"/>
                  </a:lnTo>
                  <a:cubicBezTo>
                    <a:pt x="4460241" y="0"/>
                    <a:pt x="4462215" y="818"/>
                    <a:pt x="4463670" y="2273"/>
                  </a:cubicBezTo>
                  <a:cubicBezTo>
                    <a:pt x="4465126" y="3729"/>
                    <a:pt x="4465944" y="5703"/>
                    <a:pt x="4465944" y="7762"/>
                  </a:cubicBezTo>
                  <a:lnTo>
                    <a:pt x="4465944" y="2381746"/>
                  </a:lnTo>
                  <a:cubicBezTo>
                    <a:pt x="4465944" y="2383804"/>
                    <a:pt x="4465126" y="2385779"/>
                    <a:pt x="4463670" y="2387234"/>
                  </a:cubicBezTo>
                  <a:cubicBezTo>
                    <a:pt x="4462215" y="2388690"/>
                    <a:pt x="4460241" y="2389508"/>
                    <a:pt x="4458182" y="2389508"/>
                  </a:cubicBezTo>
                  <a:lnTo>
                    <a:pt x="7762" y="2389508"/>
                  </a:lnTo>
                  <a:cubicBezTo>
                    <a:pt x="5703" y="2389508"/>
                    <a:pt x="3729" y="2388690"/>
                    <a:pt x="2273" y="2387234"/>
                  </a:cubicBezTo>
                  <a:cubicBezTo>
                    <a:pt x="818" y="2385779"/>
                    <a:pt x="0" y="2383804"/>
                    <a:pt x="0" y="2381746"/>
                  </a:cubicBezTo>
                  <a:lnTo>
                    <a:pt x="0" y="7762"/>
                  </a:lnTo>
                  <a:cubicBezTo>
                    <a:pt x="0" y="5703"/>
                    <a:pt x="818" y="3729"/>
                    <a:pt x="2273" y="2273"/>
                  </a:cubicBezTo>
                  <a:cubicBezTo>
                    <a:pt x="3729" y="818"/>
                    <a:pt x="5703" y="0"/>
                    <a:pt x="7762" y="0"/>
                  </a:cubicBezTo>
                  <a:close/>
                </a:path>
              </a:pathLst>
            </a:custGeom>
            <a:solidFill>
              <a:srgbClr val="C1997E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4465944" cy="2313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6215830" y="5942308"/>
            <a:ext cx="5856340" cy="2200001"/>
          </a:xfrm>
          <a:custGeom>
            <a:avLst/>
            <a:gdLst/>
            <a:ahLst/>
            <a:cxnLst/>
            <a:rect l="l" t="t" r="r" b="b"/>
            <a:pathLst>
              <a:path w="5856340" h="2200001">
                <a:moveTo>
                  <a:pt x="0" y="0"/>
                </a:moveTo>
                <a:lnTo>
                  <a:pt x="5856340" y="0"/>
                </a:lnTo>
                <a:lnTo>
                  <a:pt x="5856340" y="2200001"/>
                </a:lnTo>
                <a:lnTo>
                  <a:pt x="0" y="220000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3590124" y="2711374"/>
            <a:ext cx="11107753" cy="2293078"/>
          </a:xfrm>
          <a:custGeom>
            <a:avLst/>
            <a:gdLst/>
            <a:ahLst/>
            <a:cxnLst/>
            <a:rect l="l" t="t" r="r" b="b"/>
            <a:pathLst>
              <a:path w="11107753" h="2293078">
                <a:moveTo>
                  <a:pt x="0" y="0"/>
                </a:moveTo>
                <a:lnTo>
                  <a:pt x="11107752" y="0"/>
                </a:lnTo>
                <a:lnTo>
                  <a:pt x="11107752" y="2293077"/>
                </a:lnTo>
                <a:lnTo>
                  <a:pt x="0" y="2293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7550000" y="883100"/>
            <a:ext cx="3187999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625"/>
              </a:lnSpc>
              <a:spcBef>
                <a:spcPct val="0"/>
              </a:spcBef>
            </a:pPr>
            <a:r>
              <a:rPr lang="en-US" sz="7590" u="sng" strike="noStrike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QUERY</a:t>
            </a:r>
            <a:endParaRPr lang="en-US" sz="7590" u="sng" strike="noStrike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2808" y="2619836"/>
            <a:ext cx="7252456" cy="4800600"/>
          </a:xfrm>
          <a:custGeom>
            <a:avLst/>
            <a:gdLst/>
            <a:ahLst/>
            <a:cxnLst/>
            <a:rect l="l" t="t" r="r" b="b"/>
            <a:pathLst>
              <a:path w="9661800" h="6675425">
                <a:moveTo>
                  <a:pt x="0" y="0"/>
                </a:moveTo>
                <a:lnTo>
                  <a:pt x="9661800" y="0"/>
                </a:lnTo>
                <a:lnTo>
                  <a:pt x="9661800" y="6675426"/>
                </a:lnTo>
                <a:lnTo>
                  <a:pt x="0" y="667542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05568" y="1517402"/>
            <a:ext cx="8953732" cy="7512588"/>
          </a:xfrm>
          <a:custGeom>
            <a:avLst/>
            <a:gdLst/>
            <a:ahLst/>
            <a:cxnLst/>
            <a:rect l="l" t="t" r="r" b="b"/>
            <a:pathLst>
              <a:path w="8953732" h="7512588">
                <a:moveTo>
                  <a:pt x="0" y="0"/>
                </a:moveTo>
                <a:lnTo>
                  <a:pt x="8953732" y="0"/>
                </a:lnTo>
                <a:lnTo>
                  <a:pt x="8953732" y="7512588"/>
                </a:lnTo>
                <a:lnTo>
                  <a:pt x="0" y="7512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93" b="-929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745873" y="4255639"/>
            <a:ext cx="8073123" cy="3157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6175" b="1">
                <a:solidFill>
                  <a:srgbClr val="2F18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3. WHICH CONTRACT TYPE HAS THE HIGHEST CHURN RATE?</a:t>
            </a:r>
            <a:endParaRPr lang="en-US" sz="617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5685" y="607169"/>
            <a:ext cx="16956631" cy="9072662"/>
            <a:chOff x="0" y="0"/>
            <a:chExt cx="4465944" cy="2389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944" cy="2389508"/>
            </a:xfrm>
            <a:custGeom>
              <a:avLst/>
              <a:gdLst/>
              <a:ahLst/>
              <a:cxnLst/>
              <a:rect l="l" t="t" r="r" b="b"/>
              <a:pathLst>
                <a:path w="4465944" h="2389508">
                  <a:moveTo>
                    <a:pt x="7762" y="0"/>
                  </a:moveTo>
                  <a:lnTo>
                    <a:pt x="4458182" y="0"/>
                  </a:lnTo>
                  <a:cubicBezTo>
                    <a:pt x="4460241" y="0"/>
                    <a:pt x="4462215" y="818"/>
                    <a:pt x="4463670" y="2273"/>
                  </a:cubicBezTo>
                  <a:cubicBezTo>
                    <a:pt x="4465126" y="3729"/>
                    <a:pt x="4465944" y="5703"/>
                    <a:pt x="4465944" y="7762"/>
                  </a:cubicBezTo>
                  <a:lnTo>
                    <a:pt x="4465944" y="2381746"/>
                  </a:lnTo>
                  <a:cubicBezTo>
                    <a:pt x="4465944" y="2383804"/>
                    <a:pt x="4465126" y="2385779"/>
                    <a:pt x="4463670" y="2387234"/>
                  </a:cubicBezTo>
                  <a:cubicBezTo>
                    <a:pt x="4462215" y="2388690"/>
                    <a:pt x="4460241" y="2389508"/>
                    <a:pt x="4458182" y="2389508"/>
                  </a:cubicBezTo>
                  <a:lnTo>
                    <a:pt x="7762" y="2389508"/>
                  </a:lnTo>
                  <a:cubicBezTo>
                    <a:pt x="5703" y="2389508"/>
                    <a:pt x="3729" y="2388690"/>
                    <a:pt x="2273" y="2387234"/>
                  </a:cubicBezTo>
                  <a:cubicBezTo>
                    <a:pt x="818" y="2385779"/>
                    <a:pt x="0" y="2383804"/>
                    <a:pt x="0" y="2381746"/>
                  </a:cubicBezTo>
                  <a:lnTo>
                    <a:pt x="0" y="7762"/>
                  </a:lnTo>
                  <a:cubicBezTo>
                    <a:pt x="0" y="5703"/>
                    <a:pt x="818" y="3729"/>
                    <a:pt x="2273" y="2273"/>
                  </a:cubicBezTo>
                  <a:cubicBezTo>
                    <a:pt x="3729" y="818"/>
                    <a:pt x="5703" y="0"/>
                    <a:pt x="7762" y="0"/>
                  </a:cubicBezTo>
                  <a:close/>
                </a:path>
              </a:pathLst>
            </a:custGeom>
            <a:solidFill>
              <a:srgbClr val="C1997E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4465944" cy="2313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39180" y="9055931"/>
            <a:ext cx="1467242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  <a:spcBef>
                <a:spcPct val="0"/>
              </a:spcBef>
            </a:pPr>
            <a:r>
              <a:rPr lang="en-US" sz="2845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This helps HR or analysts know which customer segment is at higher risk of leaving.</a:t>
            </a:r>
            <a:endParaRPr lang="en-US" sz="2845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4682833" y="6014177"/>
            <a:ext cx="8603132" cy="2485829"/>
          </a:xfrm>
          <a:custGeom>
            <a:avLst/>
            <a:gdLst/>
            <a:ahLst/>
            <a:cxnLst/>
            <a:rect l="l" t="t" r="r" b="b"/>
            <a:pathLst>
              <a:path w="8603132" h="2485829">
                <a:moveTo>
                  <a:pt x="0" y="0"/>
                </a:moveTo>
                <a:lnTo>
                  <a:pt x="8603132" y="0"/>
                </a:lnTo>
                <a:lnTo>
                  <a:pt x="8603132" y="2485829"/>
                </a:lnTo>
                <a:lnTo>
                  <a:pt x="0" y="248582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3962400" y="2465262"/>
            <a:ext cx="10043999" cy="3120893"/>
          </a:xfrm>
          <a:custGeom>
            <a:avLst/>
            <a:gdLst/>
            <a:ahLst/>
            <a:cxnLst/>
            <a:rect l="l" t="t" r="r" b="b"/>
            <a:pathLst>
              <a:path w="10043999" h="3120893">
                <a:moveTo>
                  <a:pt x="0" y="0"/>
                </a:moveTo>
                <a:lnTo>
                  <a:pt x="10044000" y="0"/>
                </a:lnTo>
                <a:lnTo>
                  <a:pt x="10044000" y="3120893"/>
                </a:lnTo>
                <a:lnTo>
                  <a:pt x="0" y="3120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7315200" y="824214"/>
            <a:ext cx="3340497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625"/>
              </a:lnSpc>
              <a:spcBef>
                <a:spcPct val="0"/>
              </a:spcBef>
            </a:pPr>
            <a:r>
              <a:rPr lang="en-US" sz="7590" u="sng" strike="noStrike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QUERY</a:t>
            </a:r>
            <a:endParaRPr lang="en-US" sz="7590" u="sng" strike="noStrike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0822" y="3673358"/>
            <a:ext cx="981645" cy="4424593"/>
            <a:chOff x="0" y="0"/>
            <a:chExt cx="258540" cy="11653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540" cy="1165325"/>
            </a:xfrm>
            <a:custGeom>
              <a:avLst/>
              <a:gdLst/>
              <a:ahLst/>
              <a:cxnLst/>
              <a:rect l="l" t="t" r="r" b="b"/>
              <a:pathLst>
                <a:path w="258540" h="1165325">
                  <a:moveTo>
                    <a:pt x="129270" y="0"/>
                  </a:moveTo>
                  <a:lnTo>
                    <a:pt x="129270" y="0"/>
                  </a:lnTo>
                  <a:cubicBezTo>
                    <a:pt x="163555" y="0"/>
                    <a:pt x="196435" y="13619"/>
                    <a:pt x="220678" y="37862"/>
                  </a:cubicBezTo>
                  <a:cubicBezTo>
                    <a:pt x="244921" y="62105"/>
                    <a:pt x="258540" y="94986"/>
                    <a:pt x="258540" y="129270"/>
                  </a:cubicBezTo>
                  <a:lnTo>
                    <a:pt x="258540" y="1036055"/>
                  </a:lnTo>
                  <a:cubicBezTo>
                    <a:pt x="258540" y="1070339"/>
                    <a:pt x="244921" y="1103220"/>
                    <a:pt x="220678" y="1127462"/>
                  </a:cubicBezTo>
                  <a:cubicBezTo>
                    <a:pt x="196435" y="1151705"/>
                    <a:pt x="163555" y="1165325"/>
                    <a:pt x="129270" y="1165325"/>
                  </a:cubicBezTo>
                  <a:lnTo>
                    <a:pt x="129270" y="1165325"/>
                  </a:lnTo>
                  <a:cubicBezTo>
                    <a:pt x="57876" y="1165325"/>
                    <a:pt x="0" y="1107449"/>
                    <a:pt x="0" y="1036055"/>
                  </a:cubicBezTo>
                  <a:lnTo>
                    <a:pt x="0" y="129270"/>
                  </a:lnTo>
                  <a:cubicBezTo>
                    <a:pt x="0" y="57876"/>
                    <a:pt x="57876" y="0"/>
                    <a:pt x="1292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2F18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258540" cy="108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05542" y="4625772"/>
            <a:ext cx="570560" cy="570560"/>
          </a:xfrm>
          <a:custGeom>
            <a:avLst/>
            <a:gdLst/>
            <a:ahLst/>
            <a:cxnLst/>
            <a:rect l="l" t="t" r="r" b="b"/>
            <a:pathLst>
              <a:path w="570560" h="570560">
                <a:moveTo>
                  <a:pt x="0" y="0"/>
                </a:moveTo>
                <a:lnTo>
                  <a:pt x="570560" y="0"/>
                </a:lnTo>
                <a:lnTo>
                  <a:pt x="570560" y="570560"/>
                </a:lnTo>
                <a:lnTo>
                  <a:pt x="0" y="57056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5542" y="6664126"/>
            <a:ext cx="570560" cy="570560"/>
          </a:xfrm>
          <a:custGeom>
            <a:avLst/>
            <a:gdLst/>
            <a:ahLst/>
            <a:cxnLst/>
            <a:rect l="l" t="t" r="r" b="b"/>
            <a:pathLst>
              <a:path w="570560" h="570560">
                <a:moveTo>
                  <a:pt x="0" y="0"/>
                </a:moveTo>
                <a:lnTo>
                  <a:pt x="570560" y="0"/>
                </a:lnTo>
                <a:lnTo>
                  <a:pt x="570560" y="570560"/>
                </a:lnTo>
                <a:lnTo>
                  <a:pt x="0" y="57056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680899" y="3556093"/>
            <a:ext cx="6454701" cy="4659121"/>
          </a:xfrm>
          <a:custGeom>
            <a:avLst/>
            <a:gdLst/>
            <a:ahLst/>
            <a:cxnLst/>
            <a:rect l="l" t="t" r="r" b="b"/>
            <a:pathLst>
              <a:path w="6454701" h="4659121">
                <a:moveTo>
                  <a:pt x="0" y="0"/>
                </a:moveTo>
                <a:lnTo>
                  <a:pt x="6454701" y="0"/>
                </a:lnTo>
                <a:lnTo>
                  <a:pt x="6454701" y="4659120"/>
                </a:lnTo>
                <a:lnTo>
                  <a:pt x="0" y="4659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01962" y="380462"/>
            <a:ext cx="9549950" cy="9526075"/>
          </a:xfrm>
          <a:custGeom>
            <a:avLst/>
            <a:gdLst/>
            <a:ahLst/>
            <a:cxnLst/>
            <a:rect l="l" t="t" r="r" b="b"/>
            <a:pathLst>
              <a:path w="9549950" h="9526075">
                <a:moveTo>
                  <a:pt x="0" y="0"/>
                </a:moveTo>
                <a:lnTo>
                  <a:pt x="9549950" y="0"/>
                </a:lnTo>
                <a:lnTo>
                  <a:pt x="9549950" y="9526076"/>
                </a:lnTo>
                <a:lnTo>
                  <a:pt x="0" y="9526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153432" y="4296054"/>
            <a:ext cx="6314930" cy="327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5"/>
              </a:lnSpc>
            </a:pPr>
            <a:r>
              <a:rPr lang="en-US" sz="5165" b="1">
                <a:solidFill>
                  <a:srgbClr val="2F18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4. WHAT IS THE AVERAGE TENURE OF CHURNED VS NON-CHURNED CUSTOMERS?</a:t>
            </a:r>
            <a:endParaRPr lang="en-US" sz="516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5685" y="453559"/>
            <a:ext cx="16882250" cy="9258614"/>
            <a:chOff x="0" y="0"/>
            <a:chExt cx="4446354" cy="24384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6354" cy="2438483"/>
            </a:xfrm>
            <a:custGeom>
              <a:avLst/>
              <a:gdLst/>
              <a:ahLst/>
              <a:cxnLst/>
              <a:rect l="l" t="t" r="r" b="b"/>
              <a:pathLst>
                <a:path w="4446354" h="2438483">
                  <a:moveTo>
                    <a:pt x="7796" y="0"/>
                  </a:moveTo>
                  <a:lnTo>
                    <a:pt x="4438558" y="0"/>
                  </a:lnTo>
                  <a:cubicBezTo>
                    <a:pt x="4440625" y="0"/>
                    <a:pt x="4442608" y="821"/>
                    <a:pt x="4444071" y="2283"/>
                  </a:cubicBezTo>
                  <a:cubicBezTo>
                    <a:pt x="4445533" y="3745"/>
                    <a:pt x="4446354" y="5728"/>
                    <a:pt x="4446354" y="7796"/>
                  </a:cubicBezTo>
                  <a:lnTo>
                    <a:pt x="4446354" y="2430687"/>
                  </a:lnTo>
                  <a:cubicBezTo>
                    <a:pt x="4446354" y="2432754"/>
                    <a:pt x="4445533" y="2434737"/>
                    <a:pt x="4444071" y="2436199"/>
                  </a:cubicBezTo>
                  <a:cubicBezTo>
                    <a:pt x="4442608" y="2437661"/>
                    <a:pt x="4440625" y="2438483"/>
                    <a:pt x="4438558" y="2438483"/>
                  </a:cubicBezTo>
                  <a:lnTo>
                    <a:pt x="7796" y="2438483"/>
                  </a:lnTo>
                  <a:cubicBezTo>
                    <a:pt x="5728" y="2438483"/>
                    <a:pt x="3745" y="2437661"/>
                    <a:pt x="2283" y="2436199"/>
                  </a:cubicBezTo>
                  <a:cubicBezTo>
                    <a:pt x="821" y="2434737"/>
                    <a:pt x="0" y="2432754"/>
                    <a:pt x="0" y="2430687"/>
                  </a:cubicBezTo>
                  <a:lnTo>
                    <a:pt x="0" y="7796"/>
                  </a:lnTo>
                  <a:cubicBezTo>
                    <a:pt x="0" y="5728"/>
                    <a:pt x="821" y="3745"/>
                    <a:pt x="2283" y="2283"/>
                  </a:cubicBezTo>
                  <a:cubicBezTo>
                    <a:pt x="3745" y="821"/>
                    <a:pt x="5728" y="0"/>
                    <a:pt x="7796" y="0"/>
                  </a:cubicBezTo>
                  <a:close/>
                </a:path>
              </a:pathLst>
            </a:custGeom>
            <a:solidFill>
              <a:srgbClr val="C1997E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4446354" cy="2362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81200" y="8059184"/>
            <a:ext cx="13630126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60"/>
              </a:lnSpc>
              <a:spcBef>
                <a:spcPct val="0"/>
              </a:spcBef>
            </a:pPr>
            <a:endParaRPr dirty="0"/>
          </a:p>
          <a:p>
            <a:pPr algn="ctr">
              <a:lnSpc>
                <a:spcPts val="4960"/>
              </a:lnSpc>
              <a:spcBef>
                <a:spcPct val="0"/>
              </a:spcBef>
            </a:pPr>
            <a:r>
              <a:rPr lang="en-US" sz="3545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Customers are more likely to leave within the first 1.5 years.</a:t>
            </a:r>
            <a:endParaRPr lang="en-US" sz="3545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4960"/>
              </a:lnSpc>
              <a:spcBef>
                <a:spcPct val="0"/>
              </a:spcBef>
            </a:pPr>
            <a:endParaRPr lang="en-US" sz="3545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4960184" y="5770589"/>
            <a:ext cx="7578842" cy="2355271"/>
          </a:xfrm>
          <a:custGeom>
            <a:avLst/>
            <a:gdLst/>
            <a:ahLst/>
            <a:cxnLst/>
            <a:rect l="l" t="t" r="r" b="b"/>
            <a:pathLst>
              <a:path w="7578842" h="2355271">
                <a:moveTo>
                  <a:pt x="0" y="0"/>
                </a:moveTo>
                <a:lnTo>
                  <a:pt x="7578842" y="0"/>
                </a:lnTo>
                <a:lnTo>
                  <a:pt x="7578842" y="2355270"/>
                </a:lnTo>
                <a:lnTo>
                  <a:pt x="0" y="235527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2676674" y="2442568"/>
            <a:ext cx="13211382" cy="2700932"/>
          </a:xfrm>
          <a:custGeom>
            <a:avLst/>
            <a:gdLst/>
            <a:ahLst/>
            <a:cxnLst/>
            <a:rect l="l" t="t" r="r" b="b"/>
            <a:pathLst>
              <a:path w="13211382" h="2700932">
                <a:moveTo>
                  <a:pt x="0" y="0"/>
                </a:moveTo>
                <a:lnTo>
                  <a:pt x="13211382" y="0"/>
                </a:lnTo>
                <a:lnTo>
                  <a:pt x="13211382" y="2700932"/>
                </a:lnTo>
                <a:lnTo>
                  <a:pt x="0" y="2700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31" b="-7023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7391400" y="501710"/>
            <a:ext cx="3074707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625"/>
              </a:lnSpc>
              <a:spcBef>
                <a:spcPct val="0"/>
              </a:spcBef>
            </a:pPr>
            <a:r>
              <a:rPr lang="en-US" sz="7590" u="sng" strike="noStrike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QUERY</a:t>
            </a:r>
            <a:endParaRPr lang="en-US" sz="7590" u="sng" strike="noStrike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29318" y="5937831"/>
            <a:ext cx="3458682" cy="4114800"/>
          </a:xfrm>
          <a:custGeom>
            <a:avLst/>
            <a:gdLst/>
            <a:ahLst/>
            <a:cxnLst/>
            <a:rect l="l" t="t" r="r" b="b"/>
            <a:pathLst>
              <a:path w="3458682" h="4114800">
                <a:moveTo>
                  <a:pt x="0" y="0"/>
                </a:moveTo>
                <a:lnTo>
                  <a:pt x="3458682" y="0"/>
                </a:lnTo>
                <a:lnTo>
                  <a:pt x="3458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687901" y="581045"/>
            <a:ext cx="16978495" cy="0"/>
          </a:xfrm>
          <a:prstGeom prst="line">
            <a:avLst/>
          </a:prstGeom>
          <a:ln w="447675" cap="flat">
            <a:solidFill>
              <a:srgbClr val="010101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480374" y="-451253"/>
            <a:ext cx="10090900" cy="11189506"/>
          </a:xfrm>
          <a:custGeom>
            <a:avLst/>
            <a:gdLst/>
            <a:ahLst/>
            <a:cxnLst/>
            <a:rect l="l" t="t" r="r" b="b"/>
            <a:pathLst>
              <a:path w="10090900" h="11189506">
                <a:moveTo>
                  <a:pt x="0" y="0"/>
                </a:moveTo>
                <a:lnTo>
                  <a:pt x="10090900" y="0"/>
                </a:lnTo>
                <a:lnTo>
                  <a:pt x="10090900" y="11189506"/>
                </a:lnTo>
                <a:lnTo>
                  <a:pt x="0" y="111895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99659" y="4381500"/>
            <a:ext cx="148590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40"/>
              </a:lnSpc>
              <a:spcBef>
                <a:spcPct val="0"/>
              </a:spcBef>
            </a:pPr>
            <a:r>
              <a:rPr lang="en-US" sz="115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💳</a:t>
            </a:r>
            <a:r>
              <a:rPr lang="en-US" sz="8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2335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DM Sans Bold"/>
              </a:rPr>
              <a:t>PAYMENT &amp;</a:t>
            </a:r>
            <a:r>
              <a:rPr lang="en-US" sz="8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2335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DM Sans Bold"/>
              </a:rPr>
              <a:t>BILLING</a:t>
            </a:r>
            <a:endParaRPr lang="en-US" sz="12335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DM Sans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8827" y="1902400"/>
            <a:ext cx="7457168" cy="6630100"/>
          </a:xfrm>
          <a:custGeom>
            <a:avLst/>
            <a:gdLst/>
            <a:ahLst/>
            <a:cxnLst/>
            <a:rect l="l" t="t" r="r" b="b"/>
            <a:pathLst>
              <a:path w="7457168" h="6630100">
                <a:moveTo>
                  <a:pt x="0" y="0"/>
                </a:moveTo>
                <a:lnTo>
                  <a:pt x="7457168" y="0"/>
                </a:lnTo>
                <a:lnTo>
                  <a:pt x="7457168" y="6630100"/>
                </a:lnTo>
                <a:lnTo>
                  <a:pt x="0" y="66301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61416" y="640141"/>
            <a:ext cx="8826584" cy="9006718"/>
          </a:xfrm>
          <a:custGeom>
            <a:avLst/>
            <a:gdLst/>
            <a:ahLst/>
            <a:cxnLst/>
            <a:rect l="l" t="t" r="r" b="b"/>
            <a:pathLst>
              <a:path w="8826584" h="9006718">
                <a:moveTo>
                  <a:pt x="0" y="0"/>
                </a:moveTo>
                <a:lnTo>
                  <a:pt x="8826584" y="0"/>
                </a:lnTo>
                <a:lnTo>
                  <a:pt x="8826584" y="9006718"/>
                </a:lnTo>
                <a:lnTo>
                  <a:pt x="0" y="9006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26434" y="3216318"/>
            <a:ext cx="6706315" cy="4719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6175" b="1">
                <a:solidFill>
                  <a:srgbClr val="2F18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1. WHICH PAYMENT METHOD IS MOST USED AMONG CUSTOMERS WHO CHURNED?</a:t>
            </a:r>
            <a:endParaRPr lang="en-US" sz="617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5685" y="607169"/>
            <a:ext cx="16956631" cy="9072662"/>
            <a:chOff x="0" y="0"/>
            <a:chExt cx="4465944" cy="2389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944" cy="2389508"/>
            </a:xfrm>
            <a:custGeom>
              <a:avLst/>
              <a:gdLst/>
              <a:ahLst/>
              <a:cxnLst/>
              <a:rect l="l" t="t" r="r" b="b"/>
              <a:pathLst>
                <a:path w="4465944" h="2389508">
                  <a:moveTo>
                    <a:pt x="7762" y="0"/>
                  </a:moveTo>
                  <a:lnTo>
                    <a:pt x="4458182" y="0"/>
                  </a:lnTo>
                  <a:cubicBezTo>
                    <a:pt x="4460241" y="0"/>
                    <a:pt x="4462215" y="818"/>
                    <a:pt x="4463670" y="2273"/>
                  </a:cubicBezTo>
                  <a:cubicBezTo>
                    <a:pt x="4465126" y="3729"/>
                    <a:pt x="4465944" y="5703"/>
                    <a:pt x="4465944" y="7762"/>
                  </a:cubicBezTo>
                  <a:lnTo>
                    <a:pt x="4465944" y="2381746"/>
                  </a:lnTo>
                  <a:cubicBezTo>
                    <a:pt x="4465944" y="2383804"/>
                    <a:pt x="4465126" y="2385779"/>
                    <a:pt x="4463670" y="2387234"/>
                  </a:cubicBezTo>
                  <a:cubicBezTo>
                    <a:pt x="4462215" y="2388690"/>
                    <a:pt x="4460241" y="2389508"/>
                    <a:pt x="4458182" y="2389508"/>
                  </a:cubicBezTo>
                  <a:lnTo>
                    <a:pt x="7762" y="2389508"/>
                  </a:lnTo>
                  <a:cubicBezTo>
                    <a:pt x="5703" y="2389508"/>
                    <a:pt x="3729" y="2388690"/>
                    <a:pt x="2273" y="2387234"/>
                  </a:cubicBezTo>
                  <a:cubicBezTo>
                    <a:pt x="818" y="2385779"/>
                    <a:pt x="0" y="2383804"/>
                    <a:pt x="0" y="2381746"/>
                  </a:cubicBezTo>
                  <a:lnTo>
                    <a:pt x="0" y="7762"/>
                  </a:lnTo>
                  <a:cubicBezTo>
                    <a:pt x="0" y="5703"/>
                    <a:pt x="818" y="3729"/>
                    <a:pt x="2273" y="2273"/>
                  </a:cubicBezTo>
                  <a:cubicBezTo>
                    <a:pt x="3729" y="818"/>
                    <a:pt x="5703" y="0"/>
                    <a:pt x="7762" y="0"/>
                  </a:cubicBezTo>
                  <a:close/>
                </a:path>
              </a:pathLst>
            </a:custGeom>
            <a:solidFill>
              <a:srgbClr val="C1997E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4465944" cy="2313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239000" y="866775"/>
            <a:ext cx="3264297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625"/>
              </a:lnSpc>
              <a:spcBef>
                <a:spcPct val="0"/>
              </a:spcBef>
            </a:pPr>
            <a:r>
              <a:rPr lang="en-US" sz="7590" u="sng" strike="noStrike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QUERY</a:t>
            </a:r>
            <a:endParaRPr lang="en-US" sz="7590" u="sng" strike="noStrike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657162" y="6616463"/>
            <a:ext cx="4973676" cy="1806360"/>
          </a:xfrm>
          <a:custGeom>
            <a:avLst/>
            <a:gdLst/>
            <a:ahLst/>
            <a:cxnLst/>
            <a:rect l="l" t="t" r="r" b="b"/>
            <a:pathLst>
              <a:path w="4973676" h="1806360">
                <a:moveTo>
                  <a:pt x="0" y="0"/>
                </a:moveTo>
                <a:lnTo>
                  <a:pt x="4973676" y="0"/>
                </a:lnTo>
                <a:lnTo>
                  <a:pt x="4973676" y="1806360"/>
                </a:lnTo>
                <a:lnTo>
                  <a:pt x="0" y="180636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4469785" y="2758669"/>
            <a:ext cx="9348430" cy="3276769"/>
          </a:xfrm>
          <a:custGeom>
            <a:avLst/>
            <a:gdLst/>
            <a:ahLst/>
            <a:cxnLst/>
            <a:rect l="l" t="t" r="r" b="b"/>
            <a:pathLst>
              <a:path w="9348430" h="3276769">
                <a:moveTo>
                  <a:pt x="0" y="0"/>
                </a:moveTo>
                <a:lnTo>
                  <a:pt x="9348430" y="0"/>
                </a:lnTo>
                <a:lnTo>
                  <a:pt x="9348430" y="3276769"/>
                </a:lnTo>
                <a:lnTo>
                  <a:pt x="0" y="3276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37918" y="3090767"/>
            <a:ext cx="7521382" cy="6167533"/>
          </a:xfrm>
          <a:custGeom>
            <a:avLst/>
            <a:gdLst/>
            <a:ahLst/>
            <a:cxnLst/>
            <a:rect l="l" t="t" r="r" b="b"/>
            <a:pathLst>
              <a:path w="7521382" h="6167533">
                <a:moveTo>
                  <a:pt x="0" y="0"/>
                </a:moveTo>
                <a:lnTo>
                  <a:pt x="7521382" y="0"/>
                </a:lnTo>
                <a:lnTo>
                  <a:pt x="7521382" y="6167533"/>
                </a:lnTo>
                <a:lnTo>
                  <a:pt x="0" y="616753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2930" y="1477587"/>
            <a:ext cx="9144000" cy="7331825"/>
          </a:xfrm>
          <a:custGeom>
            <a:avLst/>
            <a:gdLst/>
            <a:ahLst/>
            <a:cxnLst/>
            <a:rect l="l" t="t" r="r" b="b"/>
            <a:pathLst>
              <a:path w="9144000" h="7331825">
                <a:moveTo>
                  <a:pt x="0" y="0"/>
                </a:moveTo>
                <a:lnTo>
                  <a:pt x="9144000" y="0"/>
                </a:lnTo>
                <a:lnTo>
                  <a:pt x="9144000" y="7331826"/>
                </a:lnTo>
                <a:lnTo>
                  <a:pt x="0" y="7331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3214592"/>
            <a:ext cx="8598982" cy="4719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6175" b="1">
                <a:solidFill>
                  <a:srgbClr val="2F18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2. WHAT IS THE AVERAGE MONTHLY CHARGE FOR CUSTOMERS WHO HAVE CHURNED?</a:t>
            </a:r>
            <a:endParaRPr lang="en-US" sz="617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  <a:p>
            <a:pPr algn="ctr">
              <a:lnSpc>
                <a:spcPts val="6175"/>
              </a:lnSpc>
            </a:pPr>
            <a:endParaRPr lang="en-US" sz="617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5685" y="607169"/>
            <a:ext cx="16956631" cy="9072662"/>
            <a:chOff x="0" y="0"/>
            <a:chExt cx="4465944" cy="2389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944" cy="2389508"/>
            </a:xfrm>
            <a:custGeom>
              <a:avLst/>
              <a:gdLst/>
              <a:ahLst/>
              <a:cxnLst/>
              <a:rect l="l" t="t" r="r" b="b"/>
              <a:pathLst>
                <a:path w="4465944" h="2389508">
                  <a:moveTo>
                    <a:pt x="7762" y="0"/>
                  </a:moveTo>
                  <a:lnTo>
                    <a:pt x="4458182" y="0"/>
                  </a:lnTo>
                  <a:cubicBezTo>
                    <a:pt x="4460241" y="0"/>
                    <a:pt x="4462215" y="818"/>
                    <a:pt x="4463670" y="2273"/>
                  </a:cubicBezTo>
                  <a:cubicBezTo>
                    <a:pt x="4465126" y="3729"/>
                    <a:pt x="4465944" y="5703"/>
                    <a:pt x="4465944" y="7762"/>
                  </a:cubicBezTo>
                  <a:lnTo>
                    <a:pt x="4465944" y="2381746"/>
                  </a:lnTo>
                  <a:cubicBezTo>
                    <a:pt x="4465944" y="2383804"/>
                    <a:pt x="4465126" y="2385779"/>
                    <a:pt x="4463670" y="2387234"/>
                  </a:cubicBezTo>
                  <a:cubicBezTo>
                    <a:pt x="4462215" y="2388690"/>
                    <a:pt x="4460241" y="2389508"/>
                    <a:pt x="4458182" y="2389508"/>
                  </a:cubicBezTo>
                  <a:lnTo>
                    <a:pt x="7762" y="2389508"/>
                  </a:lnTo>
                  <a:cubicBezTo>
                    <a:pt x="5703" y="2389508"/>
                    <a:pt x="3729" y="2388690"/>
                    <a:pt x="2273" y="2387234"/>
                  </a:cubicBezTo>
                  <a:cubicBezTo>
                    <a:pt x="818" y="2385779"/>
                    <a:pt x="0" y="2383804"/>
                    <a:pt x="0" y="2381746"/>
                  </a:cubicBezTo>
                  <a:lnTo>
                    <a:pt x="0" y="7762"/>
                  </a:lnTo>
                  <a:cubicBezTo>
                    <a:pt x="0" y="5703"/>
                    <a:pt x="818" y="3729"/>
                    <a:pt x="2273" y="2273"/>
                  </a:cubicBezTo>
                  <a:cubicBezTo>
                    <a:pt x="3729" y="818"/>
                    <a:pt x="5703" y="0"/>
                    <a:pt x="7762" y="0"/>
                  </a:cubicBezTo>
                  <a:close/>
                </a:path>
              </a:pathLst>
            </a:custGeom>
            <a:solidFill>
              <a:srgbClr val="C1997E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4465944" cy="2313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5171573" y="6453173"/>
            <a:ext cx="7944854" cy="1765523"/>
          </a:xfrm>
          <a:custGeom>
            <a:avLst/>
            <a:gdLst/>
            <a:ahLst/>
            <a:cxnLst/>
            <a:rect l="l" t="t" r="r" b="b"/>
            <a:pathLst>
              <a:path w="7944854" h="1765523">
                <a:moveTo>
                  <a:pt x="0" y="0"/>
                </a:moveTo>
                <a:lnTo>
                  <a:pt x="7944854" y="0"/>
                </a:lnTo>
                <a:lnTo>
                  <a:pt x="7944854" y="1765523"/>
                </a:lnTo>
                <a:lnTo>
                  <a:pt x="0" y="176552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4051291" y="2881790"/>
            <a:ext cx="10185418" cy="2527947"/>
          </a:xfrm>
          <a:custGeom>
            <a:avLst/>
            <a:gdLst/>
            <a:ahLst/>
            <a:cxnLst/>
            <a:rect l="l" t="t" r="r" b="b"/>
            <a:pathLst>
              <a:path w="10185418" h="2527947">
                <a:moveTo>
                  <a:pt x="0" y="0"/>
                </a:moveTo>
                <a:lnTo>
                  <a:pt x="10185418" y="0"/>
                </a:lnTo>
                <a:lnTo>
                  <a:pt x="10185418" y="2527948"/>
                </a:lnTo>
                <a:lnTo>
                  <a:pt x="0" y="2527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7391400" y="866775"/>
            <a:ext cx="3111897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625"/>
              </a:lnSpc>
              <a:spcBef>
                <a:spcPct val="0"/>
              </a:spcBef>
            </a:pPr>
            <a:r>
              <a:rPr lang="en-US" sz="7590" u="sng" strike="noStrike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QUERY</a:t>
            </a:r>
            <a:endParaRPr lang="en-US" sz="7590" u="sng" strike="noStrike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788" y="570776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299522" y="219108"/>
            <a:ext cx="4719918" cy="4114800"/>
          </a:xfrm>
          <a:custGeom>
            <a:avLst/>
            <a:gdLst/>
            <a:ahLst/>
            <a:cxnLst/>
            <a:rect l="l" t="t" r="r" b="b"/>
            <a:pathLst>
              <a:path w="4719918" h="4114800">
                <a:moveTo>
                  <a:pt x="0" y="0"/>
                </a:moveTo>
                <a:lnTo>
                  <a:pt x="4719918" y="0"/>
                </a:lnTo>
                <a:lnTo>
                  <a:pt x="47199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9897" y="-142420"/>
            <a:ext cx="3905319" cy="4114800"/>
          </a:xfrm>
          <a:custGeom>
            <a:avLst/>
            <a:gdLst/>
            <a:ahLst/>
            <a:cxnLst/>
            <a:rect l="l" t="t" r="r" b="b"/>
            <a:pathLst>
              <a:path w="3905319" h="4114800">
                <a:moveTo>
                  <a:pt x="0" y="0"/>
                </a:moveTo>
                <a:lnTo>
                  <a:pt x="3905319" y="0"/>
                </a:lnTo>
                <a:lnTo>
                  <a:pt x="3905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8288000" cy="10433129"/>
          </a:xfrm>
          <a:custGeom>
            <a:avLst/>
            <a:gdLst/>
            <a:ahLst/>
            <a:cxnLst/>
            <a:rect l="l" t="t" r="r" b="b"/>
            <a:pathLst>
              <a:path w="18288000" h="10433129">
                <a:moveTo>
                  <a:pt x="0" y="0"/>
                </a:moveTo>
                <a:lnTo>
                  <a:pt x="18288000" y="0"/>
                </a:lnTo>
                <a:lnTo>
                  <a:pt x="18288000" y="10433129"/>
                </a:lnTo>
                <a:lnTo>
                  <a:pt x="0" y="1043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</a:blip>
            <a:stretch>
              <a:fillRect t="-8392" b="-839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8600" y="4526768"/>
            <a:ext cx="17790840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25"/>
              </a:lnSpc>
              <a:spcBef>
                <a:spcPct val="0"/>
              </a:spcBef>
            </a:pPr>
            <a:r>
              <a:rPr lang="en-US" sz="9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👪</a:t>
            </a:r>
            <a:r>
              <a:rPr lang="en-US" sz="4735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2335" dirty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DM Sans Bold"/>
              </a:rPr>
              <a:t>DEMOGRAPHIC </a:t>
            </a:r>
            <a:endParaRPr lang="en-US" sz="12335" dirty="0" smtClean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DM Sans Bold"/>
            </a:endParaRPr>
          </a:p>
          <a:p>
            <a:pPr algn="ctr">
              <a:lnSpc>
                <a:spcPts val="6625"/>
              </a:lnSpc>
              <a:spcBef>
                <a:spcPct val="0"/>
              </a:spcBef>
            </a:pPr>
            <a:endParaRPr lang="en-US" sz="12335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DM Sans Bold"/>
            </a:endParaRPr>
          </a:p>
          <a:p>
            <a:pPr algn="ctr">
              <a:lnSpc>
                <a:spcPts val="6625"/>
              </a:lnSpc>
              <a:spcBef>
                <a:spcPct val="0"/>
              </a:spcBef>
            </a:pPr>
            <a:r>
              <a:rPr lang="en-US" sz="12335" dirty="0" smtClean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DM Sans Bold"/>
              </a:rPr>
              <a:t>ANALYSIS</a:t>
            </a:r>
            <a:endParaRPr lang="en-US" sz="12335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DM Sans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0109" y="2316981"/>
            <a:ext cx="7018446" cy="5653039"/>
          </a:xfrm>
          <a:custGeom>
            <a:avLst/>
            <a:gdLst/>
            <a:ahLst/>
            <a:cxnLst/>
            <a:rect l="l" t="t" r="r" b="b"/>
            <a:pathLst>
              <a:path w="7018446" h="5653039">
                <a:moveTo>
                  <a:pt x="0" y="0"/>
                </a:moveTo>
                <a:lnTo>
                  <a:pt x="7018445" y="0"/>
                </a:lnTo>
                <a:lnTo>
                  <a:pt x="7018445" y="5653038"/>
                </a:lnTo>
                <a:lnTo>
                  <a:pt x="0" y="565303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90109" y="6543969"/>
            <a:ext cx="1447287" cy="43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54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GOAL</a:t>
            </a:r>
            <a:endParaRPr lang="en-US" sz="2545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099800" y="6543969"/>
            <a:ext cx="2233961" cy="43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54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ACTIONS</a:t>
            </a:r>
            <a:endParaRPr lang="en-US" sz="2545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8675200" y="1706283"/>
            <a:ext cx="8584100" cy="6874433"/>
          </a:xfrm>
          <a:custGeom>
            <a:avLst/>
            <a:gdLst/>
            <a:ahLst/>
            <a:cxnLst/>
            <a:rect l="l" t="t" r="r" b="b"/>
            <a:pathLst>
              <a:path w="8584100" h="6874433">
                <a:moveTo>
                  <a:pt x="0" y="0"/>
                </a:moveTo>
                <a:lnTo>
                  <a:pt x="8584100" y="0"/>
                </a:lnTo>
                <a:lnTo>
                  <a:pt x="8584100" y="6874434"/>
                </a:lnTo>
                <a:lnTo>
                  <a:pt x="0" y="6874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909086" y="3499253"/>
            <a:ext cx="6706315" cy="393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6175" b="1">
                <a:solidFill>
                  <a:srgbClr val="2F18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1. HOW MANY SENIOR CITIZENS ARE USING THE SERVICES?</a:t>
            </a:r>
            <a:endParaRPr lang="en-US" sz="617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  <a:p>
            <a:pPr algn="ctr">
              <a:lnSpc>
                <a:spcPts val="6175"/>
              </a:lnSpc>
            </a:pPr>
            <a:endParaRPr lang="en-US" sz="617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5685" y="607169"/>
            <a:ext cx="16956631" cy="9072662"/>
            <a:chOff x="0" y="0"/>
            <a:chExt cx="4465944" cy="2389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944" cy="2389508"/>
            </a:xfrm>
            <a:custGeom>
              <a:avLst/>
              <a:gdLst/>
              <a:ahLst/>
              <a:cxnLst/>
              <a:rect l="l" t="t" r="r" b="b"/>
              <a:pathLst>
                <a:path w="4465944" h="2389508">
                  <a:moveTo>
                    <a:pt x="7762" y="0"/>
                  </a:moveTo>
                  <a:lnTo>
                    <a:pt x="4458182" y="0"/>
                  </a:lnTo>
                  <a:cubicBezTo>
                    <a:pt x="4460241" y="0"/>
                    <a:pt x="4462215" y="818"/>
                    <a:pt x="4463670" y="2273"/>
                  </a:cubicBezTo>
                  <a:cubicBezTo>
                    <a:pt x="4465126" y="3729"/>
                    <a:pt x="4465944" y="5703"/>
                    <a:pt x="4465944" y="7762"/>
                  </a:cubicBezTo>
                  <a:lnTo>
                    <a:pt x="4465944" y="2381746"/>
                  </a:lnTo>
                  <a:cubicBezTo>
                    <a:pt x="4465944" y="2383804"/>
                    <a:pt x="4465126" y="2385779"/>
                    <a:pt x="4463670" y="2387234"/>
                  </a:cubicBezTo>
                  <a:cubicBezTo>
                    <a:pt x="4462215" y="2388690"/>
                    <a:pt x="4460241" y="2389508"/>
                    <a:pt x="4458182" y="2389508"/>
                  </a:cubicBezTo>
                  <a:lnTo>
                    <a:pt x="7762" y="2389508"/>
                  </a:lnTo>
                  <a:cubicBezTo>
                    <a:pt x="5703" y="2389508"/>
                    <a:pt x="3729" y="2388690"/>
                    <a:pt x="2273" y="2387234"/>
                  </a:cubicBezTo>
                  <a:cubicBezTo>
                    <a:pt x="818" y="2385779"/>
                    <a:pt x="0" y="2383804"/>
                    <a:pt x="0" y="2381746"/>
                  </a:cubicBezTo>
                  <a:lnTo>
                    <a:pt x="0" y="7762"/>
                  </a:lnTo>
                  <a:cubicBezTo>
                    <a:pt x="0" y="5703"/>
                    <a:pt x="818" y="3729"/>
                    <a:pt x="2273" y="2273"/>
                  </a:cubicBezTo>
                  <a:cubicBezTo>
                    <a:pt x="3729" y="818"/>
                    <a:pt x="5703" y="0"/>
                    <a:pt x="7762" y="0"/>
                  </a:cubicBezTo>
                  <a:close/>
                </a:path>
              </a:pathLst>
            </a:custGeom>
            <a:solidFill>
              <a:srgbClr val="C1997E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4465944" cy="2313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6392531" y="6105033"/>
            <a:ext cx="5185600" cy="1787769"/>
          </a:xfrm>
          <a:custGeom>
            <a:avLst/>
            <a:gdLst/>
            <a:ahLst/>
            <a:cxnLst/>
            <a:rect l="l" t="t" r="r" b="b"/>
            <a:pathLst>
              <a:path w="5185600" h="1787769">
                <a:moveTo>
                  <a:pt x="0" y="0"/>
                </a:moveTo>
                <a:lnTo>
                  <a:pt x="5185600" y="0"/>
                </a:lnTo>
                <a:lnTo>
                  <a:pt x="5185600" y="1787769"/>
                </a:lnTo>
                <a:lnTo>
                  <a:pt x="0" y="178776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043" b="-3043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3882955" y="3014434"/>
            <a:ext cx="9953848" cy="1803564"/>
          </a:xfrm>
          <a:custGeom>
            <a:avLst/>
            <a:gdLst/>
            <a:ahLst/>
            <a:cxnLst/>
            <a:rect l="l" t="t" r="r" b="b"/>
            <a:pathLst>
              <a:path w="9953848" h="1803564">
                <a:moveTo>
                  <a:pt x="0" y="0"/>
                </a:moveTo>
                <a:lnTo>
                  <a:pt x="9953847" y="0"/>
                </a:lnTo>
                <a:lnTo>
                  <a:pt x="9953847" y="1803564"/>
                </a:lnTo>
                <a:lnTo>
                  <a:pt x="0" y="18035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7086600" y="866775"/>
            <a:ext cx="3416697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625"/>
              </a:lnSpc>
              <a:spcBef>
                <a:spcPct val="0"/>
              </a:spcBef>
            </a:pPr>
            <a:r>
              <a:rPr lang="en-US" sz="7590" u="sng" strike="noStrike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QUERY</a:t>
            </a:r>
            <a:endParaRPr lang="en-US" sz="7590" u="sng" strike="noStrike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0822" y="2656391"/>
            <a:ext cx="981645" cy="4968240"/>
            <a:chOff x="0" y="0"/>
            <a:chExt cx="258540" cy="1308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540" cy="1308508"/>
            </a:xfrm>
            <a:custGeom>
              <a:avLst/>
              <a:gdLst/>
              <a:ahLst/>
              <a:cxnLst/>
              <a:rect l="l" t="t" r="r" b="b"/>
              <a:pathLst>
                <a:path w="258540" h="1308508">
                  <a:moveTo>
                    <a:pt x="129270" y="0"/>
                  </a:moveTo>
                  <a:lnTo>
                    <a:pt x="129270" y="0"/>
                  </a:lnTo>
                  <a:cubicBezTo>
                    <a:pt x="163555" y="0"/>
                    <a:pt x="196435" y="13619"/>
                    <a:pt x="220678" y="37862"/>
                  </a:cubicBezTo>
                  <a:cubicBezTo>
                    <a:pt x="244921" y="62105"/>
                    <a:pt x="258540" y="94986"/>
                    <a:pt x="258540" y="129270"/>
                  </a:cubicBezTo>
                  <a:lnTo>
                    <a:pt x="258540" y="1179238"/>
                  </a:lnTo>
                  <a:cubicBezTo>
                    <a:pt x="258540" y="1250631"/>
                    <a:pt x="200664" y="1308508"/>
                    <a:pt x="129270" y="1308508"/>
                  </a:cubicBezTo>
                  <a:lnTo>
                    <a:pt x="129270" y="1308508"/>
                  </a:lnTo>
                  <a:cubicBezTo>
                    <a:pt x="94986" y="1308508"/>
                    <a:pt x="62105" y="1294888"/>
                    <a:pt x="37862" y="1270645"/>
                  </a:cubicBezTo>
                  <a:cubicBezTo>
                    <a:pt x="13619" y="1246403"/>
                    <a:pt x="0" y="1213522"/>
                    <a:pt x="0" y="1179238"/>
                  </a:cubicBezTo>
                  <a:lnTo>
                    <a:pt x="0" y="129270"/>
                  </a:lnTo>
                  <a:cubicBezTo>
                    <a:pt x="0" y="57876"/>
                    <a:pt x="57876" y="0"/>
                    <a:pt x="1292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2F18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258540" cy="1232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10594624" y="1598694"/>
            <a:ext cx="5783975" cy="4974218"/>
          </a:xfrm>
          <a:custGeom>
            <a:avLst/>
            <a:gdLst/>
            <a:ahLst/>
            <a:cxnLst/>
            <a:rect l="l" t="t" r="r" b="b"/>
            <a:pathLst>
              <a:path w="5783975" h="4974218">
                <a:moveTo>
                  <a:pt x="0" y="0"/>
                </a:moveTo>
                <a:lnTo>
                  <a:pt x="5783975" y="0"/>
                </a:lnTo>
                <a:lnTo>
                  <a:pt x="5783975" y="4974218"/>
                </a:lnTo>
                <a:lnTo>
                  <a:pt x="0" y="497421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1804317"/>
            <a:ext cx="9565924" cy="7387890"/>
          </a:xfrm>
          <a:custGeom>
            <a:avLst/>
            <a:gdLst/>
            <a:ahLst/>
            <a:cxnLst/>
            <a:rect l="l" t="t" r="r" b="b"/>
            <a:pathLst>
              <a:path w="9565924" h="7387890">
                <a:moveTo>
                  <a:pt x="0" y="0"/>
                </a:moveTo>
                <a:lnTo>
                  <a:pt x="9565924" y="0"/>
                </a:lnTo>
                <a:lnTo>
                  <a:pt x="9565924" y="7387890"/>
                </a:lnTo>
                <a:lnTo>
                  <a:pt x="0" y="7387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16031" y="3981586"/>
            <a:ext cx="7791262" cy="3157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6175" b="1">
                <a:solidFill>
                  <a:srgbClr val="2F18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2. DO CUSTOMERS WITH DEPENDENTS CHURN LESS THAN THOSE WITHOUT?</a:t>
            </a:r>
            <a:endParaRPr lang="en-US" sz="617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5685" y="607169"/>
            <a:ext cx="16956631" cy="9072662"/>
            <a:chOff x="0" y="0"/>
            <a:chExt cx="4465944" cy="2389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944" cy="2389508"/>
            </a:xfrm>
            <a:custGeom>
              <a:avLst/>
              <a:gdLst/>
              <a:ahLst/>
              <a:cxnLst/>
              <a:rect l="l" t="t" r="r" b="b"/>
              <a:pathLst>
                <a:path w="4465944" h="2389508">
                  <a:moveTo>
                    <a:pt x="7762" y="0"/>
                  </a:moveTo>
                  <a:lnTo>
                    <a:pt x="4458182" y="0"/>
                  </a:lnTo>
                  <a:cubicBezTo>
                    <a:pt x="4460241" y="0"/>
                    <a:pt x="4462215" y="818"/>
                    <a:pt x="4463670" y="2273"/>
                  </a:cubicBezTo>
                  <a:cubicBezTo>
                    <a:pt x="4465126" y="3729"/>
                    <a:pt x="4465944" y="5703"/>
                    <a:pt x="4465944" y="7762"/>
                  </a:cubicBezTo>
                  <a:lnTo>
                    <a:pt x="4465944" y="2381746"/>
                  </a:lnTo>
                  <a:cubicBezTo>
                    <a:pt x="4465944" y="2383804"/>
                    <a:pt x="4465126" y="2385779"/>
                    <a:pt x="4463670" y="2387234"/>
                  </a:cubicBezTo>
                  <a:cubicBezTo>
                    <a:pt x="4462215" y="2388690"/>
                    <a:pt x="4460241" y="2389508"/>
                    <a:pt x="4458182" y="2389508"/>
                  </a:cubicBezTo>
                  <a:lnTo>
                    <a:pt x="7762" y="2389508"/>
                  </a:lnTo>
                  <a:cubicBezTo>
                    <a:pt x="5703" y="2389508"/>
                    <a:pt x="3729" y="2388690"/>
                    <a:pt x="2273" y="2387234"/>
                  </a:cubicBezTo>
                  <a:cubicBezTo>
                    <a:pt x="818" y="2385779"/>
                    <a:pt x="0" y="2383804"/>
                    <a:pt x="0" y="2381746"/>
                  </a:cubicBezTo>
                  <a:lnTo>
                    <a:pt x="0" y="7762"/>
                  </a:lnTo>
                  <a:cubicBezTo>
                    <a:pt x="0" y="5703"/>
                    <a:pt x="818" y="3729"/>
                    <a:pt x="2273" y="2273"/>
                  </a:cubicBezTo>
                  <a:cubicBezTo>
                    <a:pt x="3729" y="818"/>
                    <a:pt x="5703" y="0"/>
                    <a:pt x="7762" y="0"/>
                  </a:cubicBezTo>
                  <a:close/>
                </a:path>
              </a:pathLst>
            </a:custGeom>
            <a:solidFill>
              <a:srgbClr val="C1997E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4465944" cy="2313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6043707" y="6455671"/>
            <a:ext cx="5854495" cy="2056985"/>
          </a:xfrm>
          <a:custGeom>
            <a:avLst/>
            <a:gdLst/>
            <a:ahLst/>
            <a:cxnLst/>
            <a:rect l="l" t="t" r="r" b="b"/>
            <a:pathLst>
              <a:path w="5854495" h="2056985">
                <a:moveTo>
                  <a:pt x="0" y="0"/>
                </a:moveTo>
                <a:lnTo>
                  <a:pt x="5854495" y="0"/>
                </a:lnTo>
                <a:lnTo>
                  <a:pt x="5854495" y="2056985"/>
                </a:lnTo>
                <a:lnTo>
                  <a:pt x="0" y="205698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4022578" y="3071433"/>
            <a:ext cx="10242845" cy="2491787"/>
          </a:xfrm>
          <a:custGeom>
            <a:avLst/>
            <a:gdLst/>
            <a:ahLst/>
            <a:cxnLst/>
            <a:rect l="l" t="t" r="r" b="b"/>
            <a:pathLst>
              <a:path w="10242845" h="2491787">
                <a:moveTo>
                  <a:pt x="0" y="0"/>
                </a:moveTo>
                <a:lnTo>
                  <a:pt x="10242844" y="0"/>
                </a:lnTo>
                <a:lnTo>
                  <a:pt x="10242844" y="2491788"/>
                </a:lnTo>
                <a:lnTo>
                  <a:pt x="0" y="2491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284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7467600" y="866775"/>
            <a:ext cx="3035697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625"/>
              </a:lnSpc>
              <a:spcBef>
                <a:spcPct val="0"/>
              </a:spcBef>
            </a:pPr>
            <a:r>
              <a:rPr lang="en-US" sz="7590" u="sng" strike="noStrike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QUERY</a:t>
            </a:r>
            <a:endParaRPr lang="en-US" sz="7590" u="sng" strike="noStrike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200" y="2483112"/>
            <a:ext cx="7315200" cy="5257800"/>
          </a:xfrm>
          <a:custGeom>
            <a:avLst/>
            <a:gdLst/>
            <a:ahLst/>
            <a:cxnLst/>
            <a:rect l="l" t="t" r="r" b="b"/>
            <a:pathLst>
              <a:path w="9661800" h="6675425">
                <a:moveTo>
                  <a:pt x="0" y="0"/>
                </a:moveTo>
                <a:lnTo>
                  <a:pt x="9661800" y="0"/>
                </a:lnTo>
                <a:lnTo>
                  <a:pt x="9661800" y="6675426"/>
                </a:lnTo>
                <a:lnTo>
                  <a:pt x="0" y="667542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146316" y="1834362"/>
            <a:ext cx="9467642" cy="5906550"/>
          </a:xfrm>
          <a:custGeom>
            <a:avLst/>
            <a:gdLst/>
            <a:ahLst/>
            <a:cxnLst/>
            <a:rect l="l" t="t" r="r" b="b"/>
            <a:pathLst>
              <a:path w="9467642" h="5906550">
                <a:moveTo>
                  <a:pt x="0" y="0"/>
                </a:moveTo>
                <a:lnTo>
                  <a:pt x="9467643" y="0"/>
                </a:lnTo>
                <a:lnTo>
                  <a:pt x="9467643" y="5906551"/>
                </a:lnTo>
                <a:lnTo>
                  <a:pt x="0" y="59065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44000" y="3109324"/>
            <a:ext cx="7890301" cy="347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0"/>
              </a:lnSpc>
            </a:pPr>
            <a:r>
              <a:rPr lang="en-US" sz="5430" b="1">
                <a:solidFill>
                  <a:srgbClr val="2F18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3. WHAT IS THE GENDER DISTRIBUTION OF CUSTOMERS WITH A LONG TENURE (E.G., OVER 60 MONTHS)?</a:t>
            </a:r>
            <a:endParaRPr lang="en-US" sz="5430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5685" y="607169"/>
            <a:ext cx="16956631" cy="9072662"/>
            <a:chOff x="0" y="0"/>
            <a:chExt cx="4465944" cy="2389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944" cy="2389508"/>
            </a:xfrm>
            <a:custGeom>
              <a:avLst/>
              <a:gdLst/>
              <a:ahLst/>
              <a:cxnLst/>
              <a:rect l="l" t="t" r="r" b="b"/>
              <a:pathLst>
                <a:path w="4465944" h="2389508">
                  <a:moveTo>
                    <a:pt x="7762" y="0"/>
                  </a:moveTo>
                  <a:lnTo>
                    <a:pt x="4458182" y="0"/>
                  </a:lnTo>
                  <a:cubicBezTo>
                    <a:pt x="4460241" y="0"/>
                    <a:pt x="4462215" y="818"/>
                    <a:pt x="4463670" y="2273"/>
                  </a:cubicBezTo>
                  <a:cubicBezTo>
                    <a:pt x="4465126" y="3729"/>
                    <a:pt x="4465944" y="5703"/>
                    <a:pt x="4465944" y="7762"/>
                  </a:cubicBezTo>
                  <a:lnTo>
                    <a:pt x="4465944" y="2381746"/>
                  </a:lnTo>
                  <a:cubicBezTo>
                    <a:pt x="4465944" y="2383804"/>
                    <a:pt x="4465126" y="2385779"/>
                    <a:pt x="4463670" y="2387234"/>
                  </a:cubicBezTo>
                  <a:cubicBezTo>
                    <a:pt x="4462215" y="2388690"/>
                    <a:pt x="4460241" y="2389508"/>
                    <a:pt x="4458182" y="2389508"/>
                  </a:cubicBezTo>
                  <a:lnTo>
                    <a:pt x="7762" y="2389508"/>
                  </a:lnTo>
                  <a:cubicBezTo>
                    <a:pt x="5703" y="2389508"/>
                    <a:pt x="3729" y="2388690"/>
                    <a:pt x="2273" y="2387234"/>
                  </a:cubicBezTo>
                  <a:cubicBezTo>
                    <a:pt x="818" y="2385779"/>
                    <a:pt x="0" y="2383804"/>
                    <a:pt x="0" y="2381746"/>
                  </a:cubicBezTo>
                  <a:lnTo>
                    <a:pt x="0" y="7762"/>
                  </a:lnTo>
                  <a:cubicBezTo>
                    <a:pt x="0" y="5703"/>
                    <a:pt x="818" y="3729"/>
                    <a:pt x="2273" y="2273"/>
                  </a:cubicBezTo>
                  <a:cubicBezTo>
                    <a:pt x="3729" y="818"/>
                    <a:pt x="5703" y="0"/>
                    <a:pt x="7762" y="0"/>
                  </a:cubicBezTo>
                  <a:close/>
                </a:path>
              </a:pathLst>
            </a:custGeom>
            <a:solidFill>
              <a:srgbClr val="C1997E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4465944" cy="2313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5396872" y="7092240"/>
            <a:ext cx="7591933" cy="2166060"/>
          </a:xfrm>
          <a:custGeom>
            <a:avLst/>
            <a:gdLst/>
            <a:ahLst/>
            <a:cxnLst/>
            <a:rect l="l" t="t" r="r" b="b"/>
            <a:pathLst>
              <a:path w="7591933" h="2166060">
                <a:moveTo>
                  <a:pt x="0" y="0"/>
                </a:moveTo>
                <a:lnTo>
                  <a:pt x="7591933" y="0"/>
                </a:lnTo>
                <a:lnTo>
                  <a:pt x="7591933" y="2166060"/>
                </a:lnTo>
                <a:lnTo>
                  <a:pt x="0" y="216606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4344733" y="2596840"/>
            <a:ext cx="9598534" cy="3737244"/>
          </a:xfrm>
          <a:custGeom>
            <a:avLst/>
            <a:gdLst/>
            <a:ahLst/>
            <a:cxnLst/>
            <a:rect l="l" t="t" r="r" b="b"/>
            <a:pathLst>
              <a:path w="9598534" h="3737244">
                <a:moveTo>
                  <a:pt x="0" y="0"/>
                </a:moveTo>
                <a:lnTo>
                  <a:pt x="9598534" y="0"/>
                </a:lnTo>
                <a:lnTo>
                  <a:pt x="9598534" y="3737245"/>
                </a:lnTo>
                <a:lnTo>
                  <a:pt x="0" y="37372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7086600" y="866775"/>
            <a:ext cx="3465536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625"/>
              </a:lnSpc>
              <a:spcBef>
                <a:spcPct val="0"/>
              </a:spcBef>
            </a:pPr>
            <a:r>
              <a:rPr lang="en-US" sz="7590" u="sng" strike="noStrike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QUERY</a:t>
            </a:r>
            <a:endParaRPr lang="en-US" sz="7590" u="sng" strike="noStrike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427378" cy="2804219"/>
          </a:xfrm>
          <a:custGeom>
            <a:avLst/>
            <a:gdLst/>
            <a:ahLst/>
            <a:cxnLst/>
            <a:rect l="l" t="t" r="r" b="b"/>
            <a:pathLst>
              <a:path w="3427378" h="2804219">
                <a:moveTo>
                  <a:pt x="0" y="0"/>
                </a:moveTo>
                <a:lnTo>
                  <a:pt x="3427378" y="0"/>
                </a:lnTo>
                <a:lnTo>
                  <a:pt x="3427378" y="2804219"/>
                </a:lnTo>
                <a:lnTo>
                  <a:pt x="0" y="280421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153400" y="0"/>
            <a:ext cx="10368000" cy="8229600"/>
          </a:xfrm>
          <a:custGeom>
            <a:avLst/>
            <a:gdLst/>
            <a:ahLst/>
            <a:cxnLst/>
            <a:rect l="l" t="t" r="r" b="b"/>
            <a:pathLst>
              <a:path w="10368000" h="8229600">
                <a:moveTo>
                  <a:pt x="0" y="0"/>
                </a:moveTo>
                <a:lnTo>
                  <a:pt x="10368000" y="0"/>
                </a:lnTo>
                <a:lnTo>
                  <a:pt x="10368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9500" y="2339197"/>
            <a:ext cx="6974586" cy="8229600"/>
          </a:xfrm>
          <a:custGeom>
            <a:avLst/>
            <a:gdLst/>
            <a:ahLst/>
            <a:cxnLst/>
            <a:rect l="l" t="t" r="r" b="b"/>
            <a:pathLst>
              <a:path w="6974586" h="8229600">
                <a:moveTo>
                  <a:pt x="0" y="0"/>
                </a:moveTo>
                <a:lnTo>
                  <a:pt x="6974586" y="0"/>
                </a:lnTo>
                <a:lnTo>
                  <a:pt x="697458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95400" y="4301240"/>
            <a:ext cx="16459200" cy="2385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  <a:spcBef>
                <a:spcPct val="0"/>
              </a:spcBef>
            </a:pPr>
            <a:r>
              <a:rPr lang="en-US" sz="9600" b="1" dirty="0">
                <a:solidFill>
                  <a:srgbClr val="0000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📶</a:t>
            </a:r>
            <a:r>
              <a:rPr lang="en-US" sz="6175" b="1" dirty="0">
                <a:solidFill>
                  <a:srgbClr val="0000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 </a:t>
            </a:r>
            <a:r>
              <a:rPr lang="en-US" sz="6175" b="1" dirty="0" smtClean="0">
                <a:solidFill>
                  <a:srgbClr val="0000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 </a:t>
            </a:r>
            <a:r>
              <a:rPr lang="en-US" sz="12335" dirty="0" smtClean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Saira Bold" panose="00000800000000000000"/>
              </a:rPr>
              <a:t>SERVICE</a:t>
            </a:r>
            <a:endParaRPr lang="en-US" sz="12335" dirty="0" smtClean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Saira Bold" panose="00000800000000000000"/>
            </a:endParaRPr>
          </a:p>
          <a:p>
            <a:pPr algn="ctr">
              <a:lnSpc>
                <a:spcPts val="6175"/>
              </a:lnSpc>
              <a:spcBef>
                <a:spcPct val="0"/>
              </a:spcBef>
            </a:pPr>
            <a:r>
              <a:rPr lang="en-US" sz="12335" dirty="0" smtClean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Saira Bold" panose="00000800000000000000"/>
              </a:rPr>
              <a:t> </a:t>
            </a:r>
            <a:endParaRPr lang="en-US" sz="12335" dirty="0" smtClean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Saira Bold" panose="00000800000000000000"/>
            </a:endParaRPr>
          </a:p>
          <a:p>
            <a:pPr algn="ctr">
              <a:lnSpc>
                <a:spcPts val="6175"/>
              </a:lnSpc>
              <a:spcBef>
                <a:spcPct val="0"/>
              </a:spcBef>
            </a:pPr>
            <a:r>
              <a:rPr lang="en-US" sz="12335" dirty="0" smtClean="0">
                <a:solidFill>
                  <a:srgbClr val="000000"/>
                </a:solidFill>
                <a:latin typeface="Arapey" panose="02000000000000000000"/>
                <a:ea typeface="Arapey" panose="02000000000000000000"/>
                <a:cs typeface="Arapey" panose="02000000000000000000"/>
                <a:sym typeface="Saira Bold" panose="00000800000000000000"/>
              </a:rPr>
              <a:t>UTILIZATION</a:t>
            </a:r>
            <a:endParaRPr lang="en-US" sz="12335" dirty="0">
              <a:solidFill>
                <a:srgbClr val="000000"/>
              </a:solidFill>
              <a:latin typeface="Arapey" panose="02000000000000000000"/>
              <a:ea typeface="Arapey" panose="02000000000000000000"/>
              <a:cs typeface="Arapey" panose="020000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0822" y="3790622"/>
            <a:ext cx="981645" cy="4424593"/>
            <a:chOff x="0" y="0"/>
            <a:chExt cx="258540" cy="11653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540" cy="1165325"/>
            </a:xfrm>
            <a:custGeom>
              <a:avLst/>
              <a:gdLst/>
              <a:ahLst/>
              <a:cxnLst/>
              <a:rect l="l" t="t" r="r" b="b"/>
              <a:pathLst>
                <a:path w="258540" h="1165325">
                  <a:moveTo>
                    <a:pt x="129270" y="0"/>
                  </a:moveTo>
                  <a:lnTo>
                    <a:pt x="129270" y="0"/>
                  </a:lnTo>
                  <a:cubicBezTo>
                    <a:pt x="163555" y="0"/>
                    <a:pt x="196435" y="13619"/>
                    <a:pt x="220678" y="37862"/>
                  </a:cubicBezTo>
                  <a:cubicBezTo>
                    <a:pt x="244921" y="62105"/>
                    <a:pt x="258540" y="94986"/>
                    <a:pt x="258540" y="129270"/>
                  </a:cubicBezTo>
                  <a:lnTo>
                    <a:pt x="258540" y="1036055"/>
                  </a:lnTo>
                  <a:cubicBezTo>
                    <a:pt x="258540" y="1070339"/>
                    <a:pt x="244921" y="1103220"/>
                    <a:pt x="220678" y="1127462"/>
                  </a:cubicBezTo>
                  <a:cubicBezTo>
                    <a:pt x="196435" y="1151705"/>
                    <a:pt x="163555" y="1165325"/>
                    <a:pt x="129270" y="1165325"/>
                  </a:cubicBezTo>
                  <a:lnTo>
                    <a:pt x="129270" y="1165325"/>
                  </a:lnTo>
                  <a:cubicBezTo>
                    <a:pt x="57876" y="1165325"/>
                    <a:pt x="0" y="1107449"/>
                    <a:pt x="0" y="1036055"/>
                  </a:cubicBezTo>
                  <a:lnTo>
                    <a:pt x="0" y="129270"/>
                  </a:lnTo>
                  <a:cubicBezTo>
                    <a:pt x="0" y="57876"/>
                    <a:pt x="57876" y="0"/>
                    <a:pt x="1292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2F18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258540" cy="108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05542" y="4625772"/>
            <a:ext cx="570560" cy="570560"/>
          </a:xfrm>
          <a:custGeom>
            <a:avLst/>
            <a:gdLst/>
            <a:ahLst/>
            <a:cxnLst/>
            <a:rect l="l" t="t" r="r" b="b"/>
            <a:pathLst>
              <a:path w="570560" h="570560">
                <a:moveTo>
                  <a:pt x="0" y="0"/>
                </a:moveTo>
                <a:lnTo>
                  <a:pt x="570560" y="0"/>
                </a:lnTo>
                <a:lnTo>
                  <a:pt x="570560" y="570560"/>
                </a:lnTo>
                <a:lnTo>
                  <a:pt x="0" y="57056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5542" y="6664126"/>
            <a:ext cx="570560" cy="570560"/>
          </a:xfrm>
          <a:custGeom>
            <a:avLst/>
            <a:gdLst/>
            <a:ahLst/>
            <a:cxnLst/>
            <a:rect l="l" t="t" r="r" b="b"/>
            <a:pathLst>
              <a:path w="570560" h="570560">
                <a:moveTo>
                  <a:pt x="0" y="0"/>
                </a:moveTo>
                <a:lnTo>
                  <a:pt x="570560" y="0"/>
                </a:lnTo>
                <a:lnTo>
                  <a:pt x="570560" y="570560"/>
                </a:lnTo>
                <a:lnTo>
                  <a:pt x="0" y="57056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130972" y="3556094"/>
            <a:ext cx="6454701" cy="4659121"/>
          </a:xfrm>
          <a:custGeom>
            <a:avLst/>
            <a:gdLst/>
            <a:ahLst/>
            <a:cxnLst/>
            <a:rect l="l" t="t" r="r" b="b"/>
            <a:pathLst>
              <a:path w="6454701" h="4659121">
                <a:moveTo>
                  <a:pt x="0" y="0"/>
                </a:moveTo>
                <a:lnTo>
                  <a:pt x="6454701" y="0"/>
                </a:lnTo>
                <a:lnTo>
                  <a:pt x="6454701" y="4659120"/>
                </a:lnTo>
                <a:lnTo>
                  <a:pt x="0" y="4659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68088" y="2160483"/>
            <a:ext cx="7375912" cy="6826071"/>
          </a:xfrm>
          <a:custGeom>
            <a:avLst/>
            <a:gdLst/>
            <a:ahLst/>
            <a:cxnLst/>
            <a:rect l="l" t="t" r="r" b="b"/>
            <a:pathLst>
              <a:path w="7375912" h="6826071">
                <a:moveTo>
                  <a:pt x="0" y="0"/>
                </a:moveTo>
                <a:lnTo>
                  <a:pt x="7375912" y="0"/>
                </a:lnTo>
                <a:lnTo>
                  <a:pt x="7375912" y="6826071"/>
                </a:lnTo>
                <a:lnTo>
                  <a:pt x="0" y="6826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68088" y="4287069"/>
            <a:ext cx="7375912" cy="268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5295" b="1">
                <a:solidFill>
                  <a:srgbClr val="2F18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1. HOW MANY CUSTOMERS HAVE BOTH INTERNET AND PHONE SERVICES?</a:t>
            </a:r>
            <a:endParaRPr lang="en-US" sz="529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5685" y="556115"/>
            <a:ext cx="16956631" cy="9072662"/>
            <a:chOff x="0" y="0"/>
            <a:chExt cx="4465944" cy="2389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944" cy="2389508"/>
            </a:xfrm>
            <a:custGeom>
              <a:avLst/>
              <a:gdLst/>
              <a:ahLst/>
              <a:cxnLst/>
              <a:rect l="l" t="t" r="r" b="b"/>
              <a:pathLst>
                <a:path w="4465944" h="2389508">
                  <a:moveTo>
                    <a:pt x="7762" y="0"/>
                  </a:moveTo>
                  <a:lnTo>
                    <a:pt x="4458182" y="0"/>
                  </a:lnTo>
                  <a:cubicBezTo>
                    <a:pt x="4460241" y="0"/>
                    <a:pt x="4462215" y="818"/>
                    <a:pt x="4463670" y="2273"/>
                  </a:cubicBezTo>
                  <a:cubicBezTo>
                    <a:pt x="4465126" y="3729"/>
                    <a:pt x="4465944" y="5703"/>
                    <a:pt x="4465944" y="7762"/>
                  </a:cubicBezTo>
                  <a:lnTo>
                    <a:pt x="4465944" y="2381746"/>
                  </a:lnTo>
                  <a:cubicBezTo>
                    <a:pt x="4465944" y="2383804"/>
                    <a:pt x="4465126" y="2385779"/>
                    <a:pt x="4463670" y="2387234"/>
                  </a:cubicBezTo>
                  <a:cubicBezTo>
                    <a:pt x="4462215" y="2388690"/>
                    <a:pt x="4460241" y="2389508"/>
                    <a:pt x="4458182" y="2389508"/>
                  </a:cubicBezTo>
                  <a:lnTo>
                    <a:pt x="7762" y="2389508"/>
                  </a:lnTo>
                  <a:cubicBezTo>
                    <a:pt x="5703" y="2389508"/>
                    <a:pt x="3729" y="2388690"/>
                    <a:pt x="2273" y="2387234"/>
                  </a:cubicBezTo>
                  <a:cubicBezTo>
                    <a:pt x="818" y="2385779"/>
                    <a:pt x="0" y="2383804"/>
                    <a:pt x="0" y="2381746"/>
                  </a:cubicBezTo>
                  <a:lnTo>
                    <a:pt x="0" y="7762"/>
                  </a:lnTo>
                  <a:cubicBezTo>
                    <a:pt x="0" y="5703"/>
                    <a:pt x="818" y="3729"/>
                    <a:pt x="2273" y="2273"/>
                  </a:cubicBezTo>
                  <a:cubicBezTo>
                    <a:pt x="3729" y="818"/>
                    <a:pt x="5703" y="0"/>
                    <a:pt x="7762" y="0"/>
                  </a:cubicBezTo>
                  <a:close/>
                </a:path>
              </a:pathLst>
            </a:custGeom>
            <a:solidFill>
              <a:srgbClr val="C1997E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4465944" cy="2313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010400" y="866775"/>
            <a:ext cx="3492897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625"/>
              </a:lnSpc>
              <a:spcBef>
                <a:spcPct val="0"/>
              </a:spcBef>
            </a:pPr>
            <a:r>
              <a:rPr lang="en-US" sz="7590" u="sng" strike="noStrike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QUERY</a:t>
            </a:r>
            <a:endParaRPr lang="en-US" sz="7590" u="sng" strike="noStrike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4549668" y="7039242"/>
            <a:ext cx="9188664" cy="1780619"/>
          </a:xfrm>
          <a:custGeom>
            <a:avLst/>
            <a:gdLst/>
            <a:ahLst/>
            <a:cxnLst/>
            <a:rect l="l" t="t" r="r" b="b"/>
            <a:pathLst>
              <a:path w="9188664" h="1780619">
                <a:moveTo>
                  <a:pt x="0" y="0"/>
                </a:moveTo>
                <a:lnTo>
                  <a:pt x="9188664" y="0"/>
                </a:lnTo>
                <a:lnTo>
                  <a:pt x="9188664" y="1780618"/>
                </a:lnTo>
                <a:lnTo>
                  <a:pt x="0" y="178061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3637580" y="2811298"/>
            <a:ext cx="11012840" cy="3123044"/>
          </a:xfrm>
          <a:custGeom>
            <a:avLst/>
            <a:gdLst/>
            <a:ahLst/>
            <a:cxnLst/>
            <a:rect l="l" t="t" r="r" b="b"/>
            <a:pathLst>
              <a:path w="11012840" h="3123044">
                <a:moveTo>
                  <a:pt x="0" y="0"/>
                </a:moveTo>
                <a:lnTo>
                  <a:pt x="11012840" y="0"/>
                </a:lnTo>
                <a:lnTo>
                  <a:pt x="11012840" y="3123044"/>
                </a:lnTo>
                <a:lnTo>
                  <a:pt x="0" y="3123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5794" y="1854460"/>
            <a:ext cx="7066296" cy="6578079"/>
          </a:xfrm>
          <a:custGeom>
            <a:avLst/>
            <a:gdLst/>
            <a:ahLst/>
            <a:cxnLst/>
            <a:rect l="l" t="t" r="r" b="b"/>
            <a:pathLst>
              <a:path w="7066296" h="6578079">
                <a:moveTo>
                  <a:pt x="0" y="0"/>
                </a:moveTo>
                <a:lnTo>
                  <a:pt x="7066296" y="0"/>
                </a:lnTo>
                <a:lnTo>
                  <a:pt x="7066296" y="6578080"/>
                </a:lnTo>
                <a:lnTo>
                  <a:pt x="0" y="657808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20820" y="1424203"/>
            <a:ext cx="10067180" cy="7834097"/>
          </a:xfrm>
          <a:custGeom>
            <a:avLst/>
            <a:gdLst/>
            <a:ahLst/>
            <a:cxnLst/>
            <a:rect l="l" t="t" r="r" b="b"/>
            <a:pathLst>
              <a:path w="10067180" h="7834097">
                <a:moveTo>
                  <a:pt x="0" y="0"/>
                </a:moveTo>
                <a:lnTo>
                  <a:pt x="10067180" y="0"/>
                </a:lnTo>
                <a:lnTo>
                  <a:pt x="10067180" y="7834097"/>
                </a:lnTo>
                <a:lnTo>
                  <a:pt x="0" y="7834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068134" y="3763887"/>
            <a:ext cx="7964679" cy="498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4875" b="1">
                <a:solidFill>
                  <a:srgbClr val="2F18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2. WHAT PERCENTAGE OF CUSTOMERS HAVE OPTED FOR ALL OPTIONAL SERVICES (ONLINESECURITY, ONLINEBACKUP, DEVICEPROTECTION, TECHSUPPORT)?</a:t>
            </a:r>
            <a:endParaRPr lang="en-US" sz="487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5518" y="458407"/>
            <a:ext cx="17216964" cy="9370185"/>
            <a:chOff x="0" y="0"/>
            <a:chExt cx="4534509" cy="24678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4509" cy="2467868"/>
            </a:xfrm>
            <a:custGeom>
              <a:avLst/>
              <a:gdLst/>
              <a:ahLst/>
              <a:cxnLst/>
              <a:rect l="l" t="t" r="r" b="b"/>
              <a:pathLst>
                <a:path w="4534509" h="2467868">
                  <a:moveTo>
                    <a:pt x="7644" y="0"/>
                  </a:moveTo>
                  <a:lnTo>
                    <a:pt x="4526864" y="0"/>
                  </a:lnTo>
                  <a:cubicBezTo>
                    <a:pt x="4528892" y="0"/>
                    <a:pt x="4530836" y="805"/>
                    <a:pt x="4532270" y="2239"/>
                  </a:cubicBezTo>
                  <a:cubicBezTo>
                    <a:pt x="4533704" y="3673"/>
                    <a:pt x="4534509" y="5617"/>
                    <a:pt x="4534509" y="7644"/>
                  </a:cubicBezTo>
                  <a:lnTo>
                    <a:pt x="4534509" y="2460223"/>
                  </a:lnTo>
                  <a:cubicBezTo>
                    <a:pt x="4534509" y="2464445"/>
                    <a:pt x="4531086" y="2467868"/>
                    <a:pt x="4526864" y="2467868"/>
                  </a:cubicBezTo>
                  <a:lnTo>
                    <a:pt x="7644" y="2467868"/>
                  </a:lnTo>
                  <a:cubicBezTo>
                    <a:pt x="3422" y="2467868"/>
                    <a:pt x="0" y="2464445"/>
                    <a:pt x="0" y="2460223"/>
                  </a:cubicBezTo>
                  <a:lnTo>
                    <a:pt x="0" y="7644"/>
                  </a:lnTo>
                  <a:cubicBezTo>
                    <a:pt x="0" y="3422"/>
                    <a:pt x="3422" y="0"/>
                    <a:pt x="7644" y="0"/>
                  </a:cubicBezTo>
                  <a:close/>
                </a:path>
              </a:pathLst>
            </a:custGeom>
            <a:solidFill>
              <a:srgbClr val="C1997E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4534509" cy="23916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4851449" y="7076137"/>
            <a:ext cx="8050369" cy="1922006"/>
          </a:xfrm>
          <a:custGeom>
            <a:avLst/>
            <a:gdLst/>
            <a:ahLst/>
            <a:cxnLst/>
            <a:rect l="l" t="t" r="r" b="b"/>
            <a:pathLst>
              <a:path w="8050369" h="1922006">
                <a:moveTo>
                  <a:pt x="0" y="0"/>
                </a:moveTo>
                <a:lnTo>
                  <a:pt x="8050369" y="0"/>
                </a:lnTo>
                <a:lnTo>
                  <a:pt x="8050369" y="1922006"/>
                </a:lnTo>
                <a:lnTo>
                  <a:pt x="0" y="192200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3590622" y="2224645"/>
            <a:ext cx="11106756" cy="4337142"/>
          </a:xfrm>
          <a:custGeom>
            <a:avLst/>
            <a:gdLst/>
            <a:ahLst/>
            <a:cxnLst/>
            <a:rect l="l" t="t" r="r" b="b"/>
            <a:pathLst>
              <a:path w="11106756" h="4337142">
                <a:moveTo>
                  <a:pt x="0" y="0"/>
                </a:moveTo>
                <a:lnTo>
                  <a:pt x="11106756" y="0"/>
                </a:lnTo>
                <a:lnTo>
                  <a:pt x="11106756" y="4337142"/>
                </a:lnTo>
                <a:lnTo>
                  <a:pt x="0" y="43371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7315200" y="398087"/>
            <a:ext cx="3188097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625"/>
              </a:lnSpc>
              <a:spcBef>
                <a:spcPct val="0"/>
              </a:spcBef>
            </a:pPr>
            <a:r>
              <a:rPr lang="en-US" sz="7590" u="sng" strike="noStrike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QUERY</a:t>
            </a:r>
            <a:endParaRPr lang="en-US" sz="7590" u="sng" strike="noStrike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53916" y="2572276"/>
            <a:ext cx="7074547" cy="6971645"/>
          </a:xfrm>
          <a:custGeom>
            <a:avLst/>
            <a:gdLst/>
            <a:ahLst/>
            <a:cxnLst/>
            <a:rect l="l" t="t" r="r" b="b"/>
            <a:pathLst>
              <a:path w="7074547" h="6971645">
                <a:moveTo>
                  <a:pt x="0" y="0"/>
                </a:moveTo>
                <a:lnTo>
                  <a:pt x="7074547" y="0"/>
                </a:lnTo>
                <a:lnTo>
                  <a:pt x="7074547" y="6971645"/>
                </a:lnTo>
                <a:lnTo>
                  <a:pt x="0" y="697164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598608" y="2962736"/>
            <a:ext cx="2270247" cy="43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54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</a:t>
            </a:r>
            <a:endParaRPr lang="en-US" sz="2545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496627" y="479136"/>
            <a:ext cx="8941741" cy="8779164"/>
          </a:xfrm>
          <a:custGeom>
            <a:avLst/>
            <a:gdLst/>
            <a:ahLst/>
            <a:cxnLst/>
            <a:rect l="l" t="t" r="r" b="b"/>
            <a:pathLst>
              <a:path w="8941741" h="8779164">
                <a:moveTo>
                  <a:pt x="0" y="0"/>
                </a:moveTo>
                <a:lnTo>
                  <a:pt x="8941741" y="0"/>
                </a:lnTo>
                <a:lnTo>
                  <a:pt x="8941741" y="8779164"/>
                </a:lnTo>
                <a:lnTo>
                  <a:pt x="0" y="8779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96627" y="3134186"/>
            <a:ext cx="8661380" cy="393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6175" b="1">
                <a:solidFill>
                  <a:srgbClr val="2F1800"/>
                </a:solidFill>
                <a:latin typeface="Saira Bold" panose="00000800000000000000"/>
                <a:ea typeface="Saira Bold" panose="00000800000000000000"/>
                <a:cs typeface="Saira Bold" panose="00000800000000000000"/>
                <a:sym typeface="Saira Bold" panose="00000800000000000000"/>
              </a:rPr>
              <a:t>3. WHAT IS THE CHURN RATE AMONG CUSTOMERS WITH ‘FIBER OPTIC’ INTERNET VS ‘DSL’?</a:t>
            </a:r>
            <a:endParaRPr lang="en-US" sz="6175" b="1">
              <a:solidFill>
                <a:srgbClr val="2F1800"/>
              </a:solidFill>
              <a:latin typeface="Saira Bold" panose="00000800000000000000"/>
              <a:ea typeface="Saira Bold" panose="00000800000000000000"/>
              <a:cs typeface="Saira Bold" panose="00000800000000000000"/>
              <a:sym typeface="Saira Bold" panose="0000080000000000000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2403" y="656042"/>
            <a:ext cx="16956631" cy="9072662"/>
            <a:chOff x="0" y="0"/>
            <a:chExt cx="4465944" cy="2389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944" cy="2389508"/>
            </a:xfrm>
            <a:custGeom>
              <a:avLst/>
              <a:gdLst/>
              <a:ahLst/>
              <a:cxnLst/>
              <a:rect l="l" t="t" r="r" b="b"/>
              <a:pathLst>
                <a:path w="4465944" h="2389508">
                  <a:moveTo>
                    <a:pt x="7762" y="0"/>
                  </a:moveTo>
                  <a:lnTo>
                    <a:pt x="4458182" y="0"/>
                  </a:lnTo>
                  <a:cubicBezTo>
                    <a:pt x="4460241" y="0"/>
                    <a:pt x="4462215" y="818"/>
                    <a:pt x="4463670" y="2273"/>
                  </a:cubicBezTo>
                  <a:cubicBezTo>
                    <a:pt x="4465126" y="3729"/>
                    <a:pt x="4465944" y="5703"/>
                    <a:pt x="4465944" y="7762"/>
                  </a:cubicBezTo>
                  <a:lnTo>
                    <a:pt x="4465944" y="2381746"/>
                  </a:lnTo>
                  <a:cubicBezTo>
                    <a:pt x="4465944" y="2383804"/>
                    <a:pt x="4465126" y="2385779"/>
                    <a:pt x="4463670" y="2387234"/>
                  </a:cubicBezTo>
                  <a:cubicBezTo>
                    <a:pt x="4462215" y="2388690"/>
                    <a:pt x="4460241" y="2389508"/>
                    <a:pt x="4458182" y="2389508"/>
                  </a:cubicBezTo>
                  <a:lnTo>
                    <a:pt x="7762" y="2389508"/>
                  </a:lnTo>
                  <a:cubicBezTo>
                    <a:pt x="5703" y="2389508"/>
                    <a:pt x="3729" y="2388690"/>
                    <a:pt x="2273" y="2387234"/>
                  </a:cubicBezTo>
                  <a:cubicBezTo>
                    <a:pt x="818" y="2385779"/>
                    <a:pt x="0" y="2383804"/>
                    <a:pt x="0" y="2381746"/>
                  </a:cubicBezTo>
                  <a:lnTo>
                    <a:pt x="0" y="7762"/>
                  </a:lnTo>
                  <a:cubicBezTo>
                    <a:pt x="0" y="5703"/>
                    <a:pt x="818" y="3729"/>
                    <a:pt x="2273" y="2273"/>
                  </a:cubicBezTo>
                  <a:cubicBezTo>
                    <a:pt x="3729" y="818"/>
                    <a:pt x="5703" y="0"/>
                    <a:pt x="7762" y="0"/>
                  </a:cubicBezTo>
                  <a:close/>
                </a:path>
              </a:pathLst>
            </a:custGeom>
            <a:solidFill>
              <a:srgbClr val="C1997E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4465944" cy="2313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362369" y="865841"/>
            <a:ext cx="3416697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625"/>
              </a:lnSpc>
              <a:spcBef>
                <a:spcPct val="0"/>
              </a:spcBef>
            </a:pPr>
            <a:r>
              <a:rPr lang="en-US" sz="7590" u="sng" strike="noStrike" dirty="0">
                <a:solidFill>
                  <a:srgbClr val="000000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QUERY</a:t>
            </a:r>
            <a:endParaRPr lang="en-US" sz="7590" u="sng" strike="noStrike" dirty="0">
              <a:solidFill>
                <a:srgbClr val="000000"/>
              </a:solidFill>
              <a:latin typeface="Arapey Bold" panose="02000000000000000000"/>
              <a:ea typeface="Arapey Bold" panose="02000000000000000000"/>
              <a:cs typeface="Arapey Bold" panose="02000000000000000000"/>
              <a:sym typeface="Arapey Bold" panose="020000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4923738" y="7212765"/>
            <a:ext cx="8440524" cy="2045535"/>
          </a:xfrm>
          <a:custGeom>
            <a:avLst/>
            <a:gdLst/>
            <a:ahLst/>
            <a:cxnLst/>
            <a:rect l="l" t="t" r="r" b="b"/>
            <a:pathLst>
              <a:path w="8440524" h="2045535">
                <a:moveTo>
                  <a:pt x="0" y="0"/>
                </a:moveTo>
                <a:lnTo>
                  <a:pt x="8440524" y="0"/>
                </a:lnTo>
                <a:lnTo>
                  <a:pt x="8440524" y="2045535"/>
                </a:lnTo>
                <a:lnTo>
                  <a:pt x="0" y="204553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3086949" y="2979543"/>
            <a:ext cx="12114102" cy="3432662"/>
          </a:xfrm>
          <a:custGeom>
            <a:avLst/>
            <a:gdLst/>
            <a:ahLst/>
            <a:cxnLst/>
            <a:rect l="l" t="t" r="r" b="b"/>
            <a:pathLst>
              <a:path w="12114102" h="3432662">
                <a:moveTo>
                  <a:pt x="0" y="0"/>
                </a:moveTo>
                <a:lnTo>
                  <a:pt x="12114102" y="0"/>
                </a:lnTo>
                <a:lnTo>
                  <a:pt x="12114102" y="3432662"/>
                </a:lnTo>
                <a:lnTo>
                  <a:pt x="0" y="3432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6535"/>
            <a:ext cx="18288000" cy="10180465"/>
          </a:xfrm>
          <a:custGeom>
            <a:avLst/>
            <a:gdLst/>
            <a:ahLst/>
            <a:cxnLst/>
            <a:rect l="l" t="t" r="r" b="b"/>
            <a:pathLst>
              <a:path w="18288000" h="10180465">
                <a:moveTo>
                  <a:pt x="0" y="0"/>
                </a:moveTo>
                <a:lnTo>
                  <a:pt x="18288000" y="0"/>
                </a:lnTo>
                <a:lnTo>
                  <a:pt x="18288000" y="10180465"/>
                </a:lnTo>
                <a:lnTo>
                  <a:pt x="0" y="1018046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80000"/>
            </a:blip>
            <a:stretch>
              <a:fillRect l="-2139" t="-16238" b="-600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19618" y="2324141"/>
            <a:ext cx="14466987" cy="3387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805"/>
              </a:lnSpc>
              <a:spcBef>
                <a:spcPct val="0"/>
              </a:spcBef>
            </a:pPr>
            <a:r>
              <a:rPr lang="en-US" sz="19145">
                <a:solidFill>
                  <a:srgbClr val="000000"/>
                </a:solidFill>
                <a:latin typeface="M Young PRC Bold" charset="-122"/>
                <a:ea typeface="M Young PRC Bold" charset="-122"/>
                <a:cs typeface="M Young PRC Bold" charset="-122"/>
                <a:sym typeface="M Young PRC Bold" charset="-122"/>
              </a:rPr>
              <a:t>THANK YOU</a:t>
            </a:r>
            <a:endParaRPr lang="en-US" sz="19145">
              <a:solidFill>
                <a:srgbClr val="000000"/>
              </a:solidFill>
              <a:latin typeface="M Young PRC Bold" charset="-122"/>
              <a:ea typeface="M Young PRC Bold" charset="-122"/>
              <a:cs typeface="M Young PRC Bold" charset="-122"/>
              <a:sym typeface="M Young PRC Bold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1462</Words>
  <Application>WPS Presentation</Application>
  <PresentationFormat>Custom</PresentationFormat>
  <Paragraphs>107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Arial</vt:lpstr>
      <vt:lpstr>SimSun</vt:lpstr>
      <vt:lpstr>Wingdings</vt:lpstr>
      <vt:lpstr>Arapey</vt:lpstr>
      <vt:lpstr>Saira Bold</vt:lpstr>
      <vt:lpstr>Arapey Bold</vt:lpstr>
      <vt:lpstr>Arial</vt:lpstr>
      <vt:lpstr>DM Sans Bold</vt:lpstr>
      <vt:lpstr>Microsoft YaHei</vt:lpstr>
      <vt:lpstr>Arial Unicode MS</vt:lpstr>
      <vt:lpstr>Calibri</vt:lpstr>
      <vt:lpstr>M Young PRC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USING SQL</dc:title>
  <dc:creator/>
  <cp:lastModifiedBy>Kashish Pundir</cp:lastModifiedBy>
  <cp:revision>5</cp:revision>
  <dcterms:created xsi:type="dcterms:W3CDTF">2006-08-16T00:00:00Z</dcterms:created>
  <dcterms:modified xsi:type="dcterms:W3CDTF">2025-05-29T11:19:43Z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5D061B759BA041F49EAD6E5BF49A3A7E_13</vt:lpwstr>
  </property>
  <property fmtid="{D5CDD505-2E9C-101B-9397-08002B2CF9AE}" pid="3" name="KSOProductBuildVer">
    <vt:lpwstr>1033-12.2.0.21179</vt:lpwstr>
  </property>
</Properties>
</file>